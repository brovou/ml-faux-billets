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25"/>
  </p:notesMasterIdLst>
  <p:handoutMasterIdLst>
    <p:handoutMasterId r:id="rId26"/>
  </p:handoutMasterIdLst>
  <p:sldIdLst>
    <p:sldId id="261" r:id="rId5"/>
    <p:sldId id="317" r:id="rId6"/>
    <p:sldId id="273" r:id="rId7"/>
    <p:sldId id="314" r:id="rId8"/>
    <p:sldId id="318" r:id="rId9"/>
    <p:sldId id="319" r:id="rId10"/>
    <p:sldId id="320" r:id="rId11"/>
    <p:sldId id="315" r:id="rId12"/>
    <p:sldId id="286" r:id="rId13"/>
    <p:sldId id="308" r:id="rId14"/>
    <p:sldId id="316" r:id="rId15"/>
    <p:sldId id="325" r:id="rId16"/>
    <p:sldId id="321" r:id="rId17"/>
    <p:sldId id="326" r:id="rId18"/>
    <p:sldId id="327" r:id="rId19"/>
    <p:sldId id="322" r:id="rId20"/>
    <p:sldId id="323" r:id="rId21"/>
    <p:sldId id="328" r:id="rId22"/>
    <p:sldId id="324" r:id="rId23"/>
    <p:sldId id="329" r:id="rId24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87175F"/>
    <a:srgbClr val="EEC621"/>
    <a:srgbClr val="E58C09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4" autoAdjust="0"/>
  </p:normalViewPr>
  <p:slideViewPr>
    <p:cSldViewPr>
      <p:cViewPr varScale="1">
        <p:scale>
          <a:sx n="99" d="100"/>
          <a:sy n="99" d="100"/>
        </p:scale>
        <p:origin x="948" y="306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216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>
              <a:latin typeface="Tw Cen MT" panose="020B0602020104020603" pitchFamily="34" charset="0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0F41FF7-4014-4711-A251-86D973B5F254}" type="datetime1">
              <a:rPr lang="fr-FR" smtClean="0">
                <a:latin typeface="Tw Cen MT" panose="020B0602020104020603" pitchFamily="34" charset="0"/>
              </a:rPr>
              <a:t>16/02/2026</a:t>
            </a:fld>
            <a:endParaRPr lang="fr-FR">
              <a:latin typeface="Tw Cen MT" panose="020B0602020104020603" pitchFamily="34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>
              <a:latin typeface="Tw Cen MT" panose="020B0602020104020603" pitchFamily="34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1BB1589-0F8A-400D-AEF4-57688446A2F5}" type="slidenum">
              <a:rPr lang="fr-FR" smtClean="0">
                <a:latin typeface="Tw Cen MT" panose="020B0602020104020603" pitchFamily="34" charset="0"/>
              </a:rPr>
              <a:t>‹N°›</a:t>
            </a:fld>
            <a:endParaRPr lang="fr-FR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pPr rtl="0"/>
            <a:fld id="{4697A488-1D99-4A6A-905F-F9C8CB9BBE5A}" type="datetime1">
              <a:rPr lang="fr-FR" noProof="0" smtClean="0"/>
              <a:t>16/02/2026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pPr rtl="0"/>
            <a:fld id="{DAE5FABD-26C8-4F74-B1E3-45BC91BC9D7B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AF3C1-2A8B-9399-0077-5C3792068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572BA933-C296-4893-28D2-E73C376D3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89DDA66-6EE3-1928-6AA3-088651BEE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2EF122-D15B-1CAF-DFB5-61156D83A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2924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4910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FD861-2233-CBC2-0F2E-72BC4441B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A7A6120D-E23A-2B42-2E74-4A22E416D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B92C571-41BF-D20A-200A-779801C68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F9D236-31CB-2BDB-EB37-28C8571BC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8109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59FAE-6292-5B5B-18C1-1F44C1563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5E49FFC3-5140-2751-9980-C9EE1B78F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68078C3-6A0D-8F69-8BF1-F6F19556D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2FB970-F4C9-25B1-B0A8-611C22310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7184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18F33-1A4F-B1C0-D1EC-801721BDB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8B59B78D-6D13-2B8C-1EEA-DF775716F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61779ED-7F03-D6ED-F598-53B8D03E5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53BB84-2B5E-0348-55E1-47C29668DE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9614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8BDDD-2C0E-4F8A-C106-FC97ED360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0E33D124-DB7C-E738-3167-14AB04216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446DF9E-B6F4-E64F-6D83-08EFDC71F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B800ED-587A-2112-D66E-E3A49F952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332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AB15C-4F97-2753-4901-4711A9F2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DCE4D9CB-9D52-532C-7060-34335F2E6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BB3D3B7-503A-DA4D-F092-A255DB3AD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DF588F-2B30-477C-62B4-3C1C81F82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5762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5294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8251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F9A36-5808-3153-58E7-61B59390E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0DDB42D9-FF76-E20D-537A-97466A80F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A1232F1-2414-24A3-E621-CF7B3AF09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29A7D8-A4EB-238E-AA41-565156364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4088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0DE22-EE23-A7FA-2D94-5801E710A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60811E9C-F7AB-00DF-8DCB-944B2B1C6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1AAD6EA-7BF2-7FA5-1F20-62D007D64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7CC9BD-F1FB-051B-E4E5-682DBC001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05109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43844-383A-5303-E2BB-2CA277E17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5C37EC30-92E7-1E13-A08C-EFB3680D0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3C7F68D-2E18-3002-1ED7-2532AC643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55B879-0805-B486-A9B9-B836E82E3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33143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62C23-4B0E-F61D-8D54-FF091D39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09FFECF-E8EE-899F-56C0-A5E044AE0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49BAAE3-5D23-49AB-449D-5180998A0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A54606-021D-0995-3FCC-444A8F629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13007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B0D0-BD72-62B4-CB30-16541CAA6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7A78729C-EED8-46AD-B572-0DFEE0063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411909A-C92A-6D3D-1F1A-8C187D19C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6FF7E9-D228-7B27-F0D0-5E66C72D8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1935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03131-06EF-8C69-6F7A-2F1A9EFB7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57D09198-4C2B-F8C8-4732-BC4B9EC81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072C06F-3B88-F6C7-C9BB-D8635815B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CE4C74-EE46-BD64-707E-21C13C01B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832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2CE0B-C5B9-D968-C26D-311419BA1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D5E004DD-234F-0286-F4F8-CBB3841DE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FE67899-E7C7-D5C8-5766-AD4C5C78C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CCC791-1BE3-31E1-7817-7CA3566FA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0879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7638B-413F-21CA-F42A-EB7C9566D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27D75751-5FDD-9F18-C4B4-624CE87A6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C878409-62A0-7230-6D06-7934F5D93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C1C627-CEE4-3C0D-4B13-4D51472EF1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3728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76219-1530-AEC6-D160-7D3CA58DC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8735262A-9FFB-A5EB-167B-05B4BDCAA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46C5C69-4B19-EFBF-D6D7-715E771FE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E45975-D4F4-911F-52EF-22B1DB57B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8499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D93E3-5BA1-20A8-C84E-80751F838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8BD79F74-493B-407F-5A80-8773BAB77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ABB54E9-3EC1-A068-356F-526B8E811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57D278-D923-0812-354F-F2B62263D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fr-FR" smtClean="0"/>
              <a:pPr rtl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6886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_Jaune foncé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 rtl="0"/>
            <a:r>
              <a:rPr lang="fr-FR" noProof="0"/>
              <a:t>I</a:t>
            </a:r>
          </a:p>
        </p:txBody>
      </p:sp>
      <p:sp>
        <p:nvSpPr>
          <p:cNvPr id="48" name="Forme libre : Form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9" name="Forme libre : Form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rtl="0"/>
            <a:endParaRPr lang="fr-FR" noProof="0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rtlCol="0"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rtl="0"/>
            <a:endParaRPr lang="fr-FR" noProof="0"/>
          </a:p>
        </p:txBody>
      </p:sp>
      <p:sp>
        <p:nvSpPr>
          <p:cNvPr id="19" name="Espace réservé d’image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Insérer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apositive de titre_Jaune foncé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 rtl="0"/>
            <a:r>
              <a:rPr lang="fr-FR" noProof="0"/>
              <a:t>I</a:t>
            </a:r>
          </a:p>
        </p:txBody>
      </p:sp>
      <p:sp>
        <p:nvSpPr>
          <p:cNvPr id="48" name="Forme libre : Form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9" name="Forme libre : Form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rtl="0"/>
            <a:endParaRPr lang="fr-FR" noProof="0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rtlCol="0"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rtl="0"/>
            <a:endParaRPr lang="fr-FR" noProof="0"/>
          </a:p>
        </p:txBody>
      </p:sp>
      <p:sp>
        <p:nvSpPr>
          <p:cNvPr id="19" name="Espace réservé d’image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Insérer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iapositive de titre_Jaune foncé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12" name="Espace réservé du texte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rtlCol="0"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13" name="Espace réservé du texte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14" name="Espace réservé du texte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19" name="Espace réservé d’image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Insérer image</a:t>
            </a:r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apositive de titre_Jaune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d’image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7" name="Espace réservé du texte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rtlCol="0"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rtlCol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Diapositive de titre_Jaune foncé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’image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7" name="Espace réservé du texte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2" name="Espace réservé du texte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 rtlCol="0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rtlCol="0"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rtlCol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apositive de tit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15" name="Espace réservé d’image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rtlCol="0" anchor="ctr">
            <a:normAutofit/>
          </a:bodyPr>
          <a:lstStyle>
            <a:lvl1pPr algn="ctr">
              <a:defRPr sz="5000" spc="2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rtlCol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7" name="Espace réservé du texte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rtlCol="0" anchor="ctr">
            <a:normAutofit/>
          </a:bodyPr>
          <a:lstStyle>
            <a:lvl1pPr algn="ctr">
              <a:defRPr sz="5000" spc="2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7" name="Espace réservé du texte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8" name="Espace réservé du texte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2667000"/>
            <a:ext cx="10288693" cy="3660648"/>
          </a:xfrm>
        </p:spPr>
        <p:txBody>
          <a:bodyPr lIns="91440" rIns="9144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e en évidence Titre-sous-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2667000"/>
            <a:ext cx="10288693" cy="3660648"/>
          </a:xfrm>
        </p:spPr>
        <p:txBody>
          <a:bodyPr lIns="91440" rIns="9144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 rtlCol="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ous-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2667000"/>
            <a:ext cx="10288693" cy="3660648"/>
          </a:xfrm>
        </p:spPr>
        <p:txBody>
          <a:bodyPr lIns="91440" rIns="9144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 rtlCol="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_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9" name="Forme libre : Forme 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_vert océ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9" name="Forme libre : Forme 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9" name="Forme libre : Forme 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_R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9" name="Forme libre : Forme 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_Bleu cl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9" name="Forme libre : Forme 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_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9" name="Forme libre : Forme 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_Bleu_Triangle correctif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9" name="Forme libre : Form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sous-titre, contenu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1" y="2667000"/>
            <a:ext cx="5775960" cy="3660648"/>
          </a:xfrm>
        </p:spPr>
        <p:txBody>
          <a:bodyPr lIns="91440" rIns="9144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 rtlCol="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ous-titre Contenu et Image_Barre de forme supérie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 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1" y="2667000"/>
            <a:ext cx="5775960" cy="3660648"/>
          </a:xfrm>
        </p:spPr>
        <p:txBody>
          <a:bodyPr lIns="91440" rIns="9144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 rtlCol="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ous-titre Contenu et Image_Barre de forme blanche supérie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2" name="Espace réservé du texte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1" y="2667000"/>
            <a:ext cx="5775960" cy="3660648"/>
          </a:xfrm>
        </p:spPr>
        <p:txBody>
          <a:bodyPr lIns="91440" rIns="9144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 rtlCol="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ous-titre contenu et demi-image horizontale_Barre de forme supérie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 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4709677"/>
            <a:ext cx="11094717" cy="1500876"/>
          </a:xfrm>
        </p:spPr>
        <p:txBody>
          <a:bodyPr lIns="91440" rIns="9144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 rtlCol="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ous-titre Contenu et demi-image_Barre de forme supérie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 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53200" y="2667001"/>
            <a:ext cx="5090157" cy="3543552"/>
          </a:xfrm>
        </p:spPr>
        <p:txBody>
          <a:bodyPr lIns="91440" rIns="9144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 rtlCol="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de titre de demi-image et Barre de forme supérie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4617492"/>
            <a:ext cx="9890759" cy="1527048"/>
          </a:xfrm>
        </p:spPr>
        <p:txBody>
          <a:bodyPr lIns="91440" rIns="91440"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i-image Titre deux colonnes Contenu et barre de forme supérie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1" y="4617492"/>
            <a:ext cx="5212080" cy="1527048"/>
          </a:xfrm>
        </p:spPr>
        <p:txBody>
          <a:bodyPr lIns="91440" rIns="91440"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  <p:sp>
        <p:nvSpPr>
          <p:cNvPr id="12" name="Espace réservé du contenu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446520" y="4617492"/>
            <a:ext cx="5212080" cy="1527048"/>
          </a:xfrm>
        </p:spPr>
        <p:txBody>
          <a:bodyPr lIns="91440" rIns="91440"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i-image Titre deux colonnes Contenu et barre de forme supérie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3" name="Espace réservé du texte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12" name="Espace réservé du contenu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Contenu important</a:t>
            </a:r>
          </a:p>
        </p:txBody>
      </p:sp>
      <p:sp>
        <p:nvSpPr>
          <p:cNvPr id="8" name="Espace réservé d’image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Icône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i image Multiple images Titre Deux colonnes Contenu et Barre de forme supérie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4" name="Espace réservé d’image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5" name="Espace réservé d’image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6" name="Espace réservé d’image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entière avec barre supérie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entiè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entiè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  <p:sp>
        <p:nvSpPr>
          <p:cNvPr id="6" name="Espace réservé du texte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Contenu important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548640"/>
            <a:ext cx="11106150" cy="641329"/>
          </a:xfrm>
        </p:spPr>
        <p:txBody>
          <a:bodyPr rtlCol="0"/>
          <a:lstStyle/>
          <a:p>
            <a:pPr rtl="0"/>
            <a:r>
              <a:rPr lang="fr-FR" noProof="0"/>
              <a:t>Cliquez pour modifier le style du titre du masque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entiè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  <p:sp>
        <p:nvSpPr>
          <p:cNvPr id="6" name="Espace réservé du texte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Contenu important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548640"/>
            <a:ext cx="11106150" cy="441960"/>
          </a:xfrm>
        </p:spPr>
        <p:txBody>
          <a:bodyPr rtlCol="0"/>
          <a:lstStyle/>
          <a:p>
            <a:pPr rtl="0"/>
            <a:r>
              <a:rPr lang="fr-FR" noProof="0"/>
              <a:t>Cliquez pour modifier le style du titre du masque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ous-titre Contenu et demi-image_Barre de forme supérie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 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4021648"/>
            <a:ext cx="5090157" cy="1884265"/>
          </a:xfrm>
        </p:spPr>
        <p:txBody>
          <a:bodyPr lIns="91440" rIns="9144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 rtlCol="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12" name="Espace réservé du contenu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527803" y="4021648"/>
            <a:ext cx="5090157" cy="1884265"/>
          </a:xfrm>
        </p:spPr>
        <p:txBody>
          <a:bodyPr lIns="91440" rIns="9144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 rtlCol="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14" name="Espace réservé d’image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Icône</a:t>
            </a:r>
          </a:p>
        </p:txBody>
      </p:sp>
      <p:sp>
        <p:nvSpPr>
          <p:cNvPr id="15" name="Espace réservé d’image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Icône</a:t>
            </a:r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de contenu de sous-titre et de moitié Image_Top barre de for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 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4021648"/>
            <a:ext cx="3474720" cy="1884265"/>
          </a:xfrm>
        </p:spPr>
        <p:txBody>
          <a:bodyPr lIns="91440" rIns="9144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 rtlCol="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12" name="Espace réservé du contenu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58640" y="4021648"/>
            <a:ext cx="3474720" cy="1884265"/>
          </a:xfrm>
        </p:spPr>
        <p:txBody>
          <a:bodyPr lIns="91440" rIns="9144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 rtlCol="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14" name="Espace réservé d’image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Icône</a:t>
            </a:r>
          </a:p>
        </p:txBody>
      </p:sp>
      <p:sp>
        <p:nvSpPr>
          <p:cNvPr id="15" name="Espace réservé d’image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Icône</a:t>
            </a:r>
          </a:p>
        </p:txBody>
      </p:sp>
      <p:sp>
        <p:nvSpPr>
          <p:cNvPr id="16" name="Espace réservé du contenu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68640" y="4021648"/>
            <a:ext cx="3474720" cy="1884265"/>
          </a:xfrm>
        </p:spPr>
        <p:txBody>
          <a:bodyPr lIns="91440" rIns="91440" rtlCol="0"/>
          <a:lstStyle/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 rtlCol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19" name="Espace réservé d’image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Icône</a:t>
            </a:r>
          </a:p>
        </p:txBody>
      </p:sp>
      <p:sp>
        <p:nvSpPr>
          <p:cNvPr id="21" name="Espace réservé du numéro de diapositive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ône de titre contenu 2 lig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 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rtlCol="0" anchor="ctr">
            <a:noAutofit/>
          </a:bodyPr>
          <a:lstStyle>
            <a:lvl1pPr>
              <a:defRPr/>
            </a:lvl1pPr>
          </a:lstStyle>
          <a:p>
            <a:pPr lvl="0" rtl="0"/>
            <a:r>
              <a:rPr lang="fr-FR" noProof="0"/>
              <a:t>Texte de description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 rtlCol="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14" name="Espace réservé d’image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Icône</a:t>
            </a:r>
          </a:p>
        </p:txBody>
      </p:sp>
      <p:sp>
        <p:nvSpPr>
          <p:cNvPr id="20" name="Espace réservé du contenu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rtlCol="0" anchor="ctr">
            <a:noAutofit/>
          </a:bodyPr>
          <a:lstStyle>
            <a:lvl1pPr>
              <a:defRPr/>
            </a:lvl1pPr>
          </a:lstStyle>
          <a:p>
            <a:pPr lvl="0" rtl="0"/>
            <a:r>
              <a:rPr lang="fr-FR" noProof="0"/>
              <a:t>Texte de description </a:t>
            </a:r>
          </a:p>
        </p:txBody>
      </p:sp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 rtlCol="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22" name="Espace réservé d’image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Icône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ône de titre contenu 3 lig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 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 rtlCol="0"/>
          <a:lstStyle>
            <a:lvl1pPr>
              <a:defRPr/>
            </a:lvl1pPr>
          </a:lstStyle>
          <a:p>
            <a:pPr lvl="0" rtl="0"/>
            <a:r>
              <a:rPr lang="fr-FR" noProof="0"/>
              <a:t>Texte de description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547465"/>
            <a:ext cx="3810000" cy="757130"/>
          </a:xfrm>
          <a:noFill/>
        </p:spPr>
        <p:txBody>
          <a:bodyPr wrap="square" lIns="91440" rIns="91440" rtlCol="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14" name="Espace réservé d’image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Icône</a:t>
            </a:r>
          </a:p>
        </p:txBody>
      </p:sp>
      <p:sp>
        <p:nvSpPr>
          <p:cNvPr id="20" name="Espace réservé du contenu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 rtlCol="0"/>
          <a:lstStyle>
            <a:lvl1pPr>
              <a:defRPr/>
            </a:lvl1pPr>
          </a:lstStyle>
          <a:p>
            <a:pPr lvl="0" rtl="0"/>
            <a:r>
              <a:rPr lang="fr-FR" noProof="0"/>
              <a:t>Texte de description </a:t>
            </a:r>
          </a:p>
        </p:txBody>
      </p:sp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680800"/>
            <a:ext cx="3810000" cy="757130"/>
          </a:xfrm>
          <a:noFill/>
        </p:spPr>
        <p:txBody>
          <a:bodyPr wrap="square" lIns="91440" rIns="91440" rtlCol="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22" name="Espace réservé d’image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Icône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3" name="Espace réservé du contenu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 rtlCol="0"/>
          <a:lstStyle>
            <a:lvl1pPr>
              <a:defRPr/>
            </a:lvl1pPr>
          </a:lstStyle>
          <a:p>
            <a:pPr lvl="0" rtl="0"/>
            <a:r>
              <a:rPr lang="fr-FR" noProof="0"/>
              <a:t>Texte de description 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814136"/>
            <a:ext cx="3810000" cy="757130"/>
          </a:xfrm>
          <a:noFill/>
        </p:spPr>
        <p:txBody>
          <a:bodyPr wrap="square" lIns="91440" rIns="91440" rtlCol="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 rtl="0"/>
            <a:r>
              <a:rPr lang="fr-FR" noProof="0"/>
              <a:t>AJOUTER TEXTE SUPPLÉMENTAIRE </a:t>
            </a:r>
          </a:p>
        </p:txBody>
      </p:sp>
      <p:sp>
        <p:nvSpPr>
          <p:cNvPr id="19" name="Espace réservé d’image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Icône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ône de correctif de titre Icône de contenu 3 lig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orme libre : Form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rtlCol="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 rtl="0"/>
            <a:r>
              <a:rPr lang="fr-FR" noProof="0"/>
              <a:t>Texte de description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rtlCol="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AJOUTER TEXTE </a:t>
            </a:r>
          </a:p>
        </p:txBody>
      </p:sp>
      <p:sp>
        <p:nvSpPr>
          <p:cNvPr id="14" name="Espace réservé d’image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Icône</a:t>
            </a:r>
          </a:p>
        </p:txBody>
      </p:sp>
      <p:sp>
        <p:nvSpPr>
          <p:cNvPr id="20" name="Espace réservé du contenu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rtlCol="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 rtl="0"/>
            <a:r>
              <a:rPr lang="fr-FR" noProof="0"/>
              <a:t>Texte de description </a:t>
            </a:r>
          </a:p>
        </p:txBody>
      </p:sp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rtlCol="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fr-FR" noProof="0"/>
              <a:t>AJOUTER TEXTE </a:t>
            </a:r>
          </a:p>
        </p:txBody>
      </p:sp>
      <p:sp>
        <p:nvSpPr>
          <p:cNvPr id="22" name="Espace réservé d’image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Icône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3" name="Espace réservé du contenu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rtlCol="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 rtl="0"/>
            <a:r>
              <a:rPr lang="fr-FR" noProof="0"/>
              <a:t>Texte de description 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rtlCol="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 rtl="0"/>
            <a:r>
              <a:rPr lang="fr-FR" noProof="0"/>
              <a:t>AJOUTER TEXTE </a:t>
            </a:r>
          </a:p>
        </p:txBody>
      </p:sp>
      <p:sp>
        <p:nvSpPr>
          <p:cNvPr id="19" name="Espace réservé d’image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Icône</a:t>
            </a:r>
          </a:p>
        </p:txBody>
      </p:sp>
      <p:sp>
        <p:nvSpPr>
          <p:cNvPr id="35" name="Forme libre : Form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correctif 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orme libre : Form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5" name="Forme libre : Form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space réservé d’image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 1</a:t>
            </a:r>
          </a:p>
        </p:txBody>
      </p:sp>
      <p:sp>
        <p:nvSpPr>
          <p:cNvPr id="30" name="Espace réservé d’image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 2</a:t>
            </a:r>
          </a:p>
        </p:txBody>
      </p:sp>
      <p:sp>
        <p:nvSpPr>
          <p:cNvPr id="31" name="Espace réservé d’image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 3</a:t>
            </a:r>
          </a:p>
        </p:txBody>
      </p:sp>
      <p:sp>
        <p:nvSpPr>
          <p:cNvPr id="32" name="Espace réservé du texte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AJOUTER TEXTE </a:t>
            </a:r>
          </a:p>
        </p:txBody>
      </p:sp>
      <p:sp>
        <p:nvSpPr>
          <p:cNvPr id="33" name="Espace réservé du texte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AJOUTER TEXTE </a:t>
            </a:r>
          </a:p>
        </p:txBody>
      </p:sp>
      <p:sp>
        <p:nvSpPr>
          <p:cNvPr id="35" name="Espace réservé du texte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AJOUTER TEXTE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’é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orme libre : Form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5" name="Forme libre : Form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space réservé d’image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32" name="Espace réservé du texte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AJOUTER TEXTE 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e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Espace réservé d’image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6" name="Espace réservé d’image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7" name="Espace réservé d’image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Espace réservé d’image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42" name="Espace réservé d’image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43" name="Espace réservé d’image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44" name="Espace réservé du texte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45" name="Espace réservé du texte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46" name="Espace réservé du texte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47" name="Espace réservé du texte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48" name="Espace réservé du texte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49" name="Espace réservé du texte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_Graph or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9" name="Forme libre : Forme 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Espace réservé d’image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AJOUTER TEXTE 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rtlCol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’image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19" name="Espace réservé d’image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0" name="Espace réservé du texte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22" name="Espace réservé d’image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3" name="Espace réservé du texte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24" name="Espace réservé du texte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25" name="Espace réservé d’image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6" name="Espace réservé du texte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27" name="Espace réservé du texte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28" name="Espace réservé d’image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9" name="Espace réservé du texte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30" name="Espace réservé du texte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_Graph org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9" name="Forme libre : Forme 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Espace réservé d’image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AJOUTER TEXTE 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rtlCol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’image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19" name="Espace réservé d’image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0" name="Espace réservé du texte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22" name="Espace réservé d’image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3" name="Espace réservé du texte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24" name="Espace réservé du texte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25" name="Espace réservé d’image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6" name="Espace réservé du texte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27" name="Espace réservé du texte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28" name="Espace réservé d’image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9" name="Espace réservé du texte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30" name="Espace réservé du texte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31" name="Espace réservé d’image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32" name="Espace réservé du texte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33" name="Espace réservé du texte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_Graph org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9" name="Forme libre : Forme 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Espace réservé d’image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AJOUTER TEXTE 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rtlCol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’image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19" name="Espace réservé d’image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0" name="Espace réservé du texte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21" name="Espace réservé du texte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22" name="Espace réservé d’image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3" name="Espace réservé du texte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24" name="Espace réservé du texte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25" name="Espace réservé d’image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6" name="Espace réservé du texte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27" name="Espace réservé du texte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28" name="Espace réservé d’image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9" name="Espace réservé du texte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30" name="Espace réservé du texte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31" name="Espace réservé d’image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32" name="Espace réservé du texte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33" name="Espace réservé du texte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space réservé d’image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39" name="Espace réservé du texte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40" name="Espace réservé du texte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41" name="Espace réservé d’image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42" name="Espace réservé du texte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43" name="Espace réservé du texte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44" name="Espace réservé d’image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45" name="Espace réservé du texte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46" name="Espace réservé du texte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  <p:sp>
        <p:nvSpPr>
          <p:cNvPr id="47" name="Espace réservé d’image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48" name="Espace réservé du texte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NOM</a:t>
            </a:r>
          </a:p>
        </p:txBody>
      </p:sp>
      <p:sp>
        <p:nvSpPr>
          <p:cNvPr id="49" name="Espace réservé du texte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fr-FR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correctif 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orme libre : Form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5" name="Forme libre : Form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u de légende d’image_Ble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rtlCol="0"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7" name="Espace réservé du texte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8" name="Espace réservé du texte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u de légende d’image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rtlCol="0"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7" name="Espace réservé du texte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8" name="Espace réservé du texte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7" name="Espace réservé du texte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50" y="2679192"/>
            <a:ext cx="9963150" cy="1499616"/>
          </a:xfrm>
          <a:noFill/>
        </p:spPr>
        <p:txBody>
          <a:bodyPr rtlCol="0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8" name="Espace réservé du texte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7" name="Espace réservé du texte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50" y="2679192"/>
            <a:ext cx="9963150" cy="1499616"/>
          </a:xfrm>
          <a:noFill/>
        </p:spPr>
        <p:txBody>
          <a:bodyPr rtlCol="0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8" name="Espace réservé du texte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7" name="Espace réservé du texte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50" y="2679192"/>
            <a:ext cx="9963150" cy="1499616"/>
          </a:xfrm>
          <a:noFill/>
        </p:spPr>
        <p:txBody>
          <a:bodyPr rtlCol="0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8" name="Espace réservé du texte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ce réservé d’image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6" name="Espace réservé du texte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rtlCol="0"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’image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rtlCol="0"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’image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rtlCol="0"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’image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rtlCol="0"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’image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rtlCol="0"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ôture-Merci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 rtl="0"/>
            <a:r>
              <a:rPr lang="fr-FR" noProof="0"/>
              <a:t>I</a:t>
            </a:r>
          </a:p>
        </p:txBody>
      </p:sp>
      <p:sp>
        <p:nvSpPr>
          <p:cNvPr id="48" name="Forme libre : Form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9" name="Forme libre : Form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rtl="0"/>
            <a:endParaRPr lang="fr-FR" noProof="0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rtlCol="0"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MeRCI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rtl="0"/>
            <a:endParaRPr lang="fr-FR" noProof="0"/>
          </a:p>
        </p:txBody>
      </p:sp>
      <p:sp>
        <p:nvSpPr>
          <p:cNvPr id="19" name="Espace réservé d’image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Insérer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ôture-Merci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d’image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27" name="Espace réservé du texte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rtlCol="0"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ôture-Merci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’image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7" name="Espace réservé du texte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2" name="Espace réservé du texte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 rtlCol="0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rtlCol="0"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ôture-Merci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15" name="Espace réservé d’image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rtlCol="0" anchor="ctr">
            <a:normAutofit/>
          </a:bodyPr>
          <a:lstStyle>
            <a:lvl1pPr algn="ctr">
              <a:defRPr sz="5000" spc="200" baseline="0"/>
            </a:lvl1pPr>
          </a:lstStyle>
          <a:p>
            <a:pPr rtl="0"/>
            <a:r>
              <a:rPr lang="fr-FR" noProof="0"/>
              <a:t>MeRCI</a:t>
            </a:r>
          </a:p>
        </p:txBody>
      </p:sp>
      <p:sp>
        <p:nvSpPr>
          <p:cNvPr id="7" name="Espace réservé du texte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ôture-Merci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Insérer image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rtlCol="0" anchor="ctr">
            <a:normAutofit/>
          </a:bodyPr>
          <a:lstStyle>
            <a:lvl1pPr algn="ctr">
              <a:defRPr sz="5000" spc="200" baseline="0"/>
            </a:lvl1pPr>
          </a:lstStyle>
          <a:p>
            <a:pPr rtl="0"/>
            <a:r>
              <a:rPr lang="fr-FR" noProof="0"/>
              <a:t>MeRCI</a:t>
            </a:r>
          </a:p>
        </p:txBody>
      </p:sp>
      <p:sp>
        <p:nvSpPr>
          <p:cNvPr id="7" name="Espace réservé du texte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  <p:sp>
        <p:nvSpPr>
          <p:cNvPr id="8" name="Espace réservé du texte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 Placeholder 1">
            <a:extLst>
              <a:ext uri="{FF2B5EF4-FFF2-40B4-BE49-F238E27FC236}">
                <a16:creationId xmlns:a16="http://schemas.microsoft.com/office/drawing/2014/main" id="{4F86AF1D-3CAE-6CD6-11AB-245B4E2004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 rot="19594102">
            <a:off x="584131" y="-142449"/>
            <a:ext cx="1218268" cy="6177109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Espace réservé d’image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5871" r="5869" b="-1"/>
          <a:stretch>
            <a:fillRect/>
          </a:stretch>
        </p:blipFill>
        <p:spPr>
          <a:xfrm>
            <a:off x="3124200" y="10"/>
            <a:ext cx="9067800" cy="6857990"/>
          </a:xfrm>
          <a:noFill/>
        </p:spPr>
      </p:pic>
      <p:sp>
        <p:nvSpPr>
          <p:cNvPr id="293" name="Text Placeholder 3">
            <a:extLst>
              <a:ext uri="{FF2B5EF4-FFF2-40B4-BE49-F238E27FC236}">
                <a16:creationId xmlns:a16="http://schemas.microsoft.com/office/drawing/2014/main" id="{187188A5-0EBF-33F4-7557-843C3B6214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3400" y="266700"/>
            <a:ext cx="5105400" cy="6324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408" y="762000"/>
            <a:ext cx="4547542" cy="3429000"/>
          </a:xfrm>
        </p:spPr>
        <p:txBody>
          <a:bodyPr rtlCol="0" anchor="ctr">
            <a:normAutofit/>
          </a:bodyPr>
          <a:lstStyle/>
          <a:p>
            <a:pPr rtl="0"/>
            <a:r>
              <a:rPr lang="fr-FR" dirty="0"/>
              <a:t>Détectez des faux billets avec r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7408" y="4343400"/>
            <a:ext cx="4547542" cy="1355732"/>
          </a:xfrm>
        </p:spPr>
        <p:txBody>
          <a:bodyPr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400" dirty="0"/>
              <a:t>Classification VRAI/FAUX basée sur des algorithmes de Machine Learning appliqués aux caractéristiques des billets</a:t>
            </a:r>
            <a:endParaRPr lang="fr-FR" sz="1300" dirty="0"/>
          </a:p>
        </p:txBody>
      </p:sp>
      <p:sp>
        <p:nvSpPr>
          <p:cNvPr id="295" name="Text Placeholder 6">
            <a:extLst>
              <a:ext uri="{FF2B5EF4-FFF2-40B4-BE49-F238E27FC236}">
                <a16:creationId xmlns:a16="http://schemas.microsoft.com/office/drawing/2014/main" id="{D01FD1E3-81EC-E465-9A94-7A46252F0F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rot="10800000">
            <a:off x="314325" y="4953000"/>
            <a:ext cx="1143000" cy="17907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C4F9A-7D67-6722-CEA6-BA59AAB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60AD26F2-6155-58B2-E121-C84EEEEFC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353752C5-038C-EB23-2C3F-ED00C9133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13" name="Titre 12">
            <a:extLst>
              <a:ext uri="{FF2B5EF4-FFF2-40B4-BE49-F238E27FC236}">
                <a16:creationId xmlns:a16="http://schemas.microsoft.com/office/drawing/2014/main" id="{30CAF827-8E98-9FDF-6BEE-A5B17882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CI" dirty="0"/>
              <a:t>Traitements et analyses réalisées</a:t>
            </a:r>
            <a:endParaRPr lang="fr-FR" dirty="0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9D7D181E-ACB6-4A7F-A88D-A5457AEED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rtlCol="0"/>
          <a:lstStyle/>
          <a:p>
            <a:pPr rt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9670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788" y="551734"/>
            <a:ext cx="10805160" cy="707886"/>
          </a:xfrm>
        </p:spPr>
        <p:txBody>
          <a:bodyPr rtlCol="0"/>
          <a:lstStyle/>
          <a:p>
            <a:pPr rtl="0"/>
            <a:r>
              <a:rPr lang="fr-FR" dirty="0"/>
              <a:t>Cadrage du projet &amp; </a:t>
            </a:r>
            <a:r>
              <a:rPr lang="fr-FR" dirty="0" err="1"/>
              <a:t>donnÉes</a:t>
            </a:r>
            <a:endParaRPr lang="fr-FR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788" y="1700809"/>
            <a:ext cx="11227852" cy="4550926"/>
          </a:xfrm>
        </p:spPr>
        <p:txBody>
          <a:bodyPr rtlCol="0">
            <a:normAutofit lnSpcReduction="10000"/>
          </a:bodyPr>
          <a:lstStyle/>
          <a:p>
            <a:r>
              <a:rPr lang="fr-CI" dirty="0"/>
              <a:t>Problème &amp; enjeu</a:t>
            </a:r>
            <a:r>
              <a:rPr lang="fr-FR" dirty="0"/>
              <a:t> : </a:t>
            </a:r>
          </a:p>
          <a:p>
            <a:pPr lvl="1"/>
            <a:r>
              <a:rPr lang="fr-FR" dirty="0"/>
              <a:t>Détecter automatiquement les FAUX billets (VRAI/FAUX).</a:t>
            </a:r>
          </a:p>
          <a:p>
            <a:pPr lvl="1"/>
            <a:r>
              <a:rPr lang="fr-FR" dirty="0"/>
              <a:t>Risque principal : FAUX → prédit VRAI (faux négatif)..</a:t>
            </a:r>
          </a:p>
          <a:p>
            <a:pPr lvl="1"/>
            <a:r>
              <a:rPr lang="fr-FR" dirty="0"/>
              <a:t>Indicateurs clés : </a:t>
            </a:r>
            <a:r>
              <a:rPr lang="fr-FR" dirty="0" err="1"/>
              <a:t>Recall_FAUX</a:t>
            </a:r>
            <a:r>
              <a:rPr lang="fr-FR" dirty="0"/>
              <a:t>, </a:t>
            </a:r>
            <a:r>
              <a:rPr lang="fr-FR" dirty="0" err="1"/>
              <a:t>Precision_FAUX</a:t>
            </a:r>
            <a:r>
              <a:rPr lang="fr-FR" dirty="0"/>
              <a:t>, F1_FAUX, AUC, </a:t>
            </a:r>
            <a:r>
              <a:rPr lang="fr-FR" dirty="0" err="1"/>
              <a:t>Accuracy</a:t>
            </a:r>
            <a:r>
              <a:rPr lang="fr-FR" dirty="0"/>
              <a:t>.</a:t>
            </a:r>
          </a:p>
          <a:p>
            <a:r>
              <a:rPr lang="fr-CI" dirty="0"/>
              <a:t>Données &amp; variables</a:t>
            </a:r>
          </a:p>
          <a:p>
            <a:pPr lvl="1"/>
            <a:r>
              <a:rPr lang="fr-CI" dirty="0"/>
              <a:t>Cible : </a:t>
            </a:r>
            <a:r>
              <a:rPr lang="fr-CI" dirty="0" err="1"/>
              <a:t>is_genuine</a:t>
            </a:r>
            <a:r>
              <a:rPr lang="fr-CI" dirty="0"/>
              <a:t> ∈ {VRAI, FAUX}.</a:t>
            </a:r>
          </a:p>
          <a:p>
            <a:pPr lvl="1"/>
            <a:r>
              <a:rPr lang="en-US" dirty="0"/>
              <a:t>Variables (6 </a:t>
            </a:r>
            <a:r>
              <a:rPr lang="en-US" dirty="0" err="1"/>
              <a:t>mésures</a:t>
            </a:r>
            <a:r>
              <a:rPr lang="en-US" dirty="0"/>
              <a:t>) : diagonal, </a:t>
            </a:r>
            <a:r>
              <a:rPr lang="en-US" dirty="0" err="1"/>
              <a:t>height_left</a:t>
            </a:r>
            <a:r>
              <a:rPr lang="en-US" dirty="0"/>
              <a:t>, </a:t>
            </a:r>
            <a:r>
              <a:rPr lang="en-US" dirty="0" err="1"/>
              <a:t>height_right</a:t>
            </a:r>
            <a:r>
              <a:rPr lang="en-US" dirty="0"/>
              <a:t>, </a:t>
            </a:r>
            <a:r>
              <a:rPr lang="en-US" dirty="0" err="1"/>
              <a:t>margin_low</a:t>
            </a:r>
            <a:r>
              <a:rPr lang="en-US" dirty="0"/>
              <a:t>, </a:t>
            </a:r>
            <a:r>
              <a:rPr lang="en-US" dirty="0" err="1"/>
              <a:t>margin_up</a:t>
            </a:r>
            <a:r>
              <a:rPr lang="en-US" dirty="0"/>
              <a:t>, length.</a:t>
            </a:r>
          </a:p>
          <a:p>
            <a:pPr lvl="1"/>
            <a:r>
              <a:rPr lang="fr-CI" dirty="0"/>
              <a:t>Nettoyage &amp; standardisation;</a:t>
            </a:r>
            <a:r>
              <a:rPr lang="fr-FR" dirty="0"/>
              <a:t> Suppression des 37 valeurs manquantes sur </a:t>
            </a:r>
            <a:r>
              <a:rPr lang="fr-FR" dirty="0" err="1"/>
              <a:t>margin_low</a:t>
            </a:r>
            <a:r>
              <a:rPr lang="fr-FR" dirty="0"/>
              <a:t> (moins de 3% de lignes concernées).</a:t>
            </a:r>
            <a:endParaRPr lang="en-US" dirty="0"/>
          </a:p>
          <a:p>
            <a:pPr lvl="1"/>
            <a:r>
              <a:rPr lang="fr-FR" dirty="0"/>
              <a:t>Idée métier : les FAUX présentent des écarts dimensionnels et des marges atypiques.</a:t>
            </a:r>
          </a:p>
          <a:p>
            <a:r>
              <a:rPr lang="fr-CI" dirty="0"/>
              <a:t>Démarche de modélisation</a:t>
            </a:r>
          </a:p>
          <a:p>
            <a:pPr lvl="1"/>
            <a:r>
              <a:rPr lang="fr-CI" dirty="0"/>
              <a:t>Principe : </a:t>
            </a:r>
            <a:r>
              <a:rPr lang="fr-FR" dirty="0"/>
              <a:t>TRAIN = Apprentissage + Optimisation et TEST = Performance finale.</a:t>
            </a:r>
            <a:endParaRPr lang="fr-CI" dirty="0"/>
          </a:p>
          <a:p>
            <a:pPr lvl="1"/>
            <a:r>
              <a:rPr lang="fr-CI" dirty="0"/>
              <a:t>Split 80/20 stratifié : TRAIN : 1171 et TEST : 292.</a:t>
            </a:r>
          </a:p>
          <a:p>
            <a:pPr lvl="1"/>
            <a:r>
              <a:rPr lang="fr-FR" dirty="0"/>
              <a:t>Stratification respectée : Proportions VRAI/FAUX identiques sur TRAIN et TEST.</a:t>
            </a:r>
            <a:endParaRPr lang="fr-CI" dirty="0"/>
          </a:p>
          <a:p>
            <a:pPr lvl="1"/>
            <a:endParaRPr lang="fr-CI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4C965B6-7E38-4D37-8DC4-198F7E2181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172304"/>
            <a:ext cx="10837333" cy="424732"/>
          </a:xfrm>
        </p:spPr>
        <p:txBody>
          <a:bodyPr rtlCol="0"/>
          <a:lstStyle/>
          <a:p>
            <a:r>
              <a:rPr lang="fr-CI" dirty="0"/>
              <a:t>Problème &amp; enjeu </a:t>
            </a:r>
            <a:r>
              <a:rPr lang="fr-FR" dirty="0"/>
              <a:t>– Données &amp; Variables - </a:t>
            </a:r>
            <a:r>
              <a:rPr lang="fr-CI" dirty="0"/>
              <a:t>Démarche de modélisation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F44A039-11AB-474F-8746-9A34D1C39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smtClean="0"/>
              <a:pPr rtl="0"/>
              <a:t>3</a:t>
            </a:fld>
            <a:endParaRPr lang="fr-FR"/>
          </a:p>
        </p:txBody>
      </p:sp>
      <p:sp>
        <p:nvSpPr>
          <p:cNvPr id="18" name="Espace réservé du texte 119">
            <a:extLst>
              <a:ext uri="{FF2B5EF4-FFF2-40B4-BE49-F238E27FC236}">
                <a16:creationId xmlns:a16="http://schemas.microsoft.com/office/drawing/2014/main" id="{6E5B80C5-6B42-4867-88CC-660291DD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/>
          </a:p>
        </p:txBody>
      </p:sp>
      <p:pic>
        <p:nvPicPr>
          <p:cNvPr id="10" name="Espace réservé d’image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</p:spTree>
    <p:extLst>
      <p:ext uri="{BB962C8B-B14F-4D97-AF65-F5344CB8AC3E}">
        <p14:creationId xmlns:p14="http://schemas.microsoft.com/office/powerpoint/2010/main" val="1074725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EA610-1A7F-3CE4-13E5-FE5D4118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71C05F6E-4F20-EC64-A54E-99EBCF4F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3158"/>
            <a:ext cx="10805160" cy="707886"/>
          </a:xfrm>
        </p:spPr>
        <p:txBody>
          <a:bodyPr rtlCol="0"/>
          <a:lstStyle/>
          <a:p>
            <a:pPr rtl="0"/>
            <a:r>
              <a:rPr lang="fr-FR" dirty="0"/>
              <a:t>Exploration des données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F9C72D2F-335B-301F-E856-1A005DCE51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1689214"/>
            <a:ext cx="5907401" cy="4650626"/>
          </a:xfrm>
        </p:spPr>
        <p:txBody>
          <a:bodyPr rtlCol="0"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fr-CI" dirty="0"/>
              <a:t>Sélection des variables utiles :</a:t>
            </a:r>
          </a:p>
          <a:p>
            <a:pPr lvl="1">
              <a:lnSpc>
                <a:spcPct val="120000"/>
              </a:lnSpc>
            </a:pPr>
            <a:r>
              <a:rPr lang="fr-FR" dirty="0"/>
              <a:t>Cible : </a:t>
            </a:r>
            <a:r>
              <a:rPr lang="fr-FR" dirty="0" err="1"/>
              <a:t>is_genuine</a:t>
            </a:r>
            <a:r>
              <a:rPr lang="fr-FR" dirty="0"/>
              <a:t> (VRAI / FAUX)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Descriptions </a:t>
            </a:r>
            <a:r>
              <a:rPr lang="fr-FR" dirty="0"/>
              <a:t>des 6 variables </a:t>
            </a:r>
            <a:r>
              <a:rPr lang="en-US" dirty="0"/>
              <a:t>: 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diagonal : diagonal du billet</a:t>
            </a:r>
          </a:p>
          <a:p>
            <a:pPr lvl="2">
              <a:lnSpc>
                <a:spcPct val="120000"/>
              </a:lnSpc>
            </a:pPr>
            <a:r>
              <a:rPr lang="en-US" dirty="0" err="1"/>
              <a:t>height_left</a:t>
            </a:r>
            <a:r>
              <a:rPr lang="en-US" dirty="0"/>
              <a:t> : hauteur du </a:t>
            </a:r>
            <a:r>
              <a:rPr lang="en-US" dirty="0" err="1"/>
              <a:t>côté</a:t>
            </a:r>
            <a:r>
              <a:rPr lang="en-US" dirty="0"/>
              <a:t> gauche du billet</a:t>
            </a:r>
          </a:p>
          <a:p>
            <a:pPr lvl="2">
              <a:lnSpc>
                <a:spcPct val="120000"/>
              </a:lnSpc>
            </a:pPr>
            <a:r>
              <a:rPr lang="en-US" dirty="0" err="1"/>
              <a:t>height_right</a:t>
            </a:r>
            <a:r>
              <a:rPr lang="en-US" dirty="0"/>
              <a:t> : hauteur du </a:t>
            </a:r>
            <a:r>
              <a:rPr lang="en-US" dirty="0" err="1"/>
              <a:t>côté</a:t>
            </a:r>
            <a:r>
              <a:rPr lang="en-US" dirty="0"/>
              <a:t> droit</a:t>
            </a:r>
          </a:p>
          <a:p>
            <a:pPr lvl="2">
              <a:lnSpc>
                <a:spcPct val="120000"/>
              </a:lnSpc>
            </a:pPr>
            <a:r>
              <a:rPr lang="en-US" dirty="0" err="1"/>
              <a:t>margin_low</a:t>
            </a:r>
            <a:r>
              <a:rPr lang="en-US" dirty="0"/>
              <a:t> : marge </a:t>
            </a:r>
            <a:r>
              <a:rPr lang="en-US" dirty="0" err="1"/>
              <a:t>inférieur</a:t>
            </a:r>
            <a:r>
              <a:rPr lang="en-US" dirty="0"/>
              <a:t> du billet</a:t>
            </a:r>
          </a:p>
          <a:p>
            <a:pPr lvl="2">
              <a:lnSpc>
                <a:spcPct val="120000"/>
              </a:lnSpc>
            </a:pPr>
            <a:r>
              <a:rPr lang="en-US" dirty="0" err="1"/>
              <a:t>margin_up</a:t>
            </a:r>
            <a:r>
              <a:rPr lang="en-US" dirty="0"/>
              <a:t> : marge supérieure du billet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Length : longueur du billet</a:t>
            </a:r>
            <a:endParaRPr lang="fr-CI" dirty="0"/>
          </a:p>
          <a:p>
            <a:pPr>
              <a:lnSpc>
                <a:spcPct val="120000"/>
              </a:lnSpc>
            </a:pPr>
            <a:r>
              <a:rPr lang="fr-CI" dirty="0"/>
              <a:t>Analyse univariée</a:t>
            </a:r>
          </a:p>
          <a:p>
            <a:pPr lvl="1">
              <a:lnSpc>
                <a:spcPct val="120000"/>
              </a:lnSpc>
            </a:pPr>
            <a:r>
              <a:rPr lang="fr-CI" dirty="0"/>
              <a:t>Variables stables : diagonal, </a:t>
            </a:r>
            <a:r>
              <a:rPr lang="fr-CI" dirty="0" err="1"/>
              <a:t>height_left</a:t>
            </a:r>
            <a:r>
              <a:rPr lang="fr-CI" dirty="0"/>
              <a:t>, </a:t>
            </a:r>
            <a:r>
              <a:rPr lang="fr-CI" dirty="0" err="1"/>
              <a:t>height_right</a:t>
            </a:r>
            <a:r>
              <a:rPr lang="fr-CI" dirty="0"/>
              <a:t>, </a:t>
            </a:r>
            <a:r>
              <a:rPr lang="fr-CI" dirty="0" err="1"/>
              <a:t>margin_up</a:t>
            </a:r>
            <a:r>
              <a:rPr lang="fr-CI" dirty="0"/>
              <a:t> </a:t>
            </a:r>
            <a:r>
              <a:rPr lang="fr-FR" b="1" dirty="0"/>
              <a:t>→</a:t>
            </a:r>
            <a:r>
              <a:rPr lang="fr-CI" dirty="0"/>
              <a:t> Peu dispersées, donc peu discriminantes.</a:t>
            </a:r>
          </a:p>
          <a:p>
            <a:pPr lvl="1">
              <a:lnSpc>
                <a:spcPct val="120000"/>
              </a:lnSpc>
            </a:pPr>
            <a:r>
              <a:rPr lang="fr-CI" dirty="0"/>
              <a:t>Variables clé : </a:t>
            </a:r>
            <a:r>
              <a:rPr lang="fr-FR" dirty="0" err="1"/>
              <a:t>length</a:t>
            </a:r>
            <a:r>
              <a:rPr lang="fr-FR" dirty="0"/>
              <a:t> et </a:t>
            </a:r>
            <a:r>
              <a:rPr lang="fr-FR" dirty="0" err="1"/>
              <a:t>margin_low</a:t>
            </a:r>
            <a:r>
              <a:rPr lang="fr-FR" dirty="0"/>
              <a:t> </a:t>
            </a:r>
            <a:r>
              <a:rPr lang="fr-FR" b="1" dirty="0"/>
              <a:t>→</a:t>
            </a:r>
            <a:r>
              <a:rPr lang="fr-FR" dirty="0"/>
              <a:t> Forte variabilité entre classes, excellent pouvoir de séparation.</a:t>
            </a:r>
            <a:endParaRPr lang="fr-CI" dirty="0"/>
          </a:p>
          <a:p>
            <a:pPr>
              <a:lnSpc>
                <a:spcPct val="120000"/>
              </a:lnSpc>
            </a:pPr>
            <a:endParaRPr lang="fr-CI" dirty="0"/>
          </a:p>
          <a:p>
            <a:pPr lvl="1">
              <a:lnSpc>
                <a:spcPct val="120000"/>
              </a:lnSpc>
            </a:pPr>
            <a:endParaRPr lang="fr-FR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94DC93F-6905-A6BD-C4C0-9976D0854C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180880"/>
            <a:ext cx="10837333" cy="424732"/>
          </a:xfrm>
        </p:spPr>
        <p:txBody>
          <a:bodyPr rtlCol="0"/>
          <a:lstStyle/>
          <a:p>
            <a:r>
              <a:rPr lang="fr-CI" dirty="0"/>
              <a:t>Visualisation de la distribution des variables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12DD929-2979-EEC6-ECD0-8805D0B01B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smtClean="0"/>
              <a:pPr rtl="0"/>
              <a:t>4</a:t>
            </a:fld>
            <a:endParaRPr lang="fr-FR"/>
          </a:p>
        </p:txBody>
      </p:sp>
      <p:sp>
        <p:nvSpPr>
          <p:cNvPr id="18" name="Espace réservé du texte 119">
            <a:extLst>
              <a:ext uri="{FF2B5EF4-FFF2-40B4-BE49-F238E27FC236}">
                <a16:creationId xmlns:a16="http://schemas.microsoft.com/office/drawing/2014/main" id="{7CE810F9-6845-5015-EDDB-054984902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/>
          </a:p>
        </p:txBody>
      </p:sp>
      <p:pic>
        <p:nvPicPr>
          <p:cNvPr id="10" name="Espace réservé d’image 5">
            <a:extLst>
              <a:ext uri="{FF2B5EF4-FFF2-40B4-BE49-F238E27FC236}">
                <a16:creationId xmlns:a16="http://schemas.microsoft.com/office/drawing/2014/main" id="{5D12D6AA-7031-6332-E219-6F6D40CDF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8" name="Image 7" descr="Une image contenant texte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4261BE0-C645-938B-818C-D08CF0FB3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040" y="2243334"/>
            <a:ext cx="5616624" cy="345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175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2B024-2D95-9E0F-E0DE-8F3BBCC28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03CDEDE7-BEBF-31CF-5ACB-26C28C6C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3158"/>
            <a:ext cx="10805160" cy="707886"/>
          </a:xfrm>
        </p:spPr>
        <p:txBody>
          <a:bodyPr rtlCol="0"/>
          <a:lstStyle/>
          <a:p>
            <a:pPr rtl="0"/>
            <a:r>
              <a:rPr lang="fr-FR" dirty="0"/>
              <a:t>Exploration des données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DC5941E0-7A9C-4615-1C07-A7CDA7080B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065672"/>
            <a:ext cx="5907401" cy="3926362"/>
          </a:xfrm>
        </p:spPr>
        <p:txBody>
          <a:bodyPr rtlCol="0"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dirty="0">
                <a:latin typeface="Tw Cen MT (Corps)"/>
              </a:rPr>
              <a:t>Variables stables : diagonal, </a:t>
            </a:r>
            <a:r>
              <a:rPr lang="fr-FR" altLang="fr-FR" dirty="0" err="1">
                <a:latin typeface="Tw Cen MT (Corps)"/>
              </a:rPr>
              <a:t>height_left</a:t>
            </a:r>
            <a:r>
              <a:rPr lang="fr-FR" altLang="fr-FR" dirty="0">
                <a:latin typeface="Tw Cen MT (Corps)"/>
              </a:rPr>
              <a:t>, </a:t>
            </a:r>
            <a:r>
              <a:rPr lang="fr-FR" altLang="fr-FR" dirty="0" err="1">
                <a:latin typeface="Tw Cen MT (Corps)"/>
              </a:rPr>
              <a:t>height_right</a:t>
            </a:r>
            <a:r>
              <a:rPr lang="fr-FR" altLang="fr-FR" dirty="0">
                <a:latin typeface="Tw Cen MT (Corps)"/>
              </a:rPr>
              <a:t> et </a:t>
            </a:r>
            <a:r>
              <a:rPr lang="fr-FR" altLang="fr-FR" dirty="0" err="1">
                <a:latin typeface="Tw Cen MT (Corps)"/>
              </a:rPr>
              <a:t>margin_up</a:t>
            </a:r>
            <a:r>
              <a:rPr lang="fr-FR" altLang="fr-FR" dirty="0">
                <a:latin typeface="Tw Cen MT (Corps)"/>
              </a:rPr>
              <a:t> montrent une faible dispersion et très peu d’</a:t>
            </a:r>
            <a:r>
              <a:rPr lang="fr-FR" altLang="fr-FR" dirty="0" err="1">
                <a:latin typeface="Tw Cen MT (Corps)"/>
              </a:rPr>
              <a:t>outliers</a:t>
            </a:r>
            <a:r>
              <a:rPr lang="fr-FR" altLang="fr-FR" dirty="0">
                <a:latin typeface="Tw Cen MT (Corps)"/>
              </a:rPr>
              <a:t> → Faible pouvoir discriminant.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dirty="0">
              <a:latin typeface="Tw Cen MT (Corps)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dirty="0">
                <a:latin typeface="Tw Cen MT (Corps)"/>
              </a:rPr>
              <a:t>Variables discriminantes : </a:t>
            </a:r>
            <a:r>
              <a:rPr lang="fr-FR" altLang="fr-FR" dirty="0" err="1">
                <a:latin typeface="Tw Cen MT (Corps)"/>
              </a:rPr>
              <a:t>length</a:t>
            </a:r>
            <a:r>
              <a:rPr lang="fr-FR" altLang="fr-FR" dirty="0">
                <a:latin typeface="Tw Cen MT (Corps)"/>
              </a:rPr>
              <a:t> est plus variable avec des valeurs basses fréquentes chez les faux ; </a:t>
            </a:r>
            <a:r>
              <a:rPr lang="fr-FR" altLang="fr-FR" dirty="0" err="1">
                <a:latin typeface="Tw Cen MT (Corps)"/>
              </a:rPr>
              <a:t>margin_low</a:t>
            </a:r>
            <a:r>
              <a:rPr lang="fr-FR" altLang="fr-FR" dirty="0">
                <a:latin typeface="Tw Cen MT (Corps)"/>
              </a:rPr>
              <a:t> est la plus dispersée avec de nombreux </a:t>
            </a:r>
            <a:r>
              <a:rPr lang="fr-FR" altLang="fr-FR" dirty="0" err="1">
                <a:latin typeface="Tw Cen MT (Corps)"/>
              </a:rPr>
              <a:t>outliers</a:t>
            </a:r>
            <a:r>
              <a:rPr lang="fr-FR" altLang="fr-FR" dirty="0">
                <a:latin typeface="Tw Cen MT (Corps)"/>
              </a:rPr>
              <a:t> → Forte capacité de séparation.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dirty="0">
                <a:latin typeface="Tw Cen MT (Corps)"/>
              </a:rPr>
              <a:t>Les </a:t>
            </a:r>
            <a:r>
              <a:rPr lang="fr-FR" altLang="fr-FR" dirty="0" err="1">
                <a:latin typeface="Tw Cen MT (Corps)"/>
              </a:rPr>
              <a:t>boxplots</a:t>
            </a:r>
            <a:r>
              <a:rPr lang="fr-FR" altLang="fr-FR" dirty="0">
                <a:latin typeface="Tw Cen MT (Corps)"/>
              </a:rPr>
              <a:t> confirment que </a:t>
            </a:r>
            <a:r>
              <a:rPr lang="fr-FR" altLang="fr-FR" b="1" dirty="0" err="1">
                <a:latin typeface="Tw Cen MT (Corps)"/>
              </a:rPr>
              <a:t>length</a:t>
            </a:r>
            <a:r>
              <a:rPr lang="fr-FR" altLang="fr-FR" dirty="0">
                <a:latin typeface="Tw Cen MT (Corps)"/>
              </a:rPr>
              <a:t> et surtout </a:t>
            </a:r>
            <a:r>
              <a:rPr lang="fr-FR" altLang="fr-FR" b="1" dirty="0" err="1">
                <a:latin typeface="Tw Cen MT (Corps)"/>
              </a:rPr>
              <a:t>margin_low</a:t>
            </a:r>
            <a:r>
              <a:rPr lang="fr-FR" altLang="fr-FR" dirty="0">
                <a:latin typeface="Tw Cen MT (Corps)"/>
              </a:rPr>
              <a:t> sont les meilleures variables pour distinguer vrais et faux billets.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fr-CI" dirty="0"/>
          </a:p>
          <a:p>
            <a:pPr lvl="1">
              <a:lnSpc>
                <a:spcPct val="120000"/>
              </a:lnSpc>
            </a:pPr>
            <a:endParaRPr lang="fr-FR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BBD88E2-D892-3077-2CAE-68A99ADF94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180880"/>
            <a:ext cx="10837333" cy="424732"/>
          </a:xfrm>
        </p:spPr>
        <p:txBody>
          <a:bodyPr rtlCol="0"/>
          <a:lstStyle/>
          <a:p>
            <a:r>
              <a:rPr lang="fr-CI" dirty="0"/>
              <a:t>Visualisation de la distribution des variables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F5AE634-D990-0539-2BDB-5C1A3C856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smtClean="0"/>
              <a:pPr rtl="0"/>
              <a:t>5</a:t>
            </a:fld>
            <a:endParaRPr lang="fr-FR"/>
          </a:p>
        </p:txBody>
      </p:sp>
      <p:sp>
        <p:nvSpPr>
          <p:cNvPr id="18" name="Espace réservé du texte 119">
            <a:extLst>
              <a:ext uri="{FF2B5EF4-FFF2-40B4-BE49-F238E27FC236}">
                <a16:creationId xmlns:a16="http://schemas.microsoft.com/office/drawing/2014/main" id="{EBA65C88-253D-AFA7-DC46-8339F34F7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/>
          </a:p>
        </p:txBody>
      </p:sp>
      <p:pic>
        <p:nvPicPr>
          <p:cNvPr id="10" name="Espace réservé d’image 5">
            <a:extLst>
              <a:ext uri="{FF2B5EF4-FFF2-40B4-BE49-F238E27FC236}">
                <a16:creationId xmlns:a16="http://schemas.microsoft.com/office/drawing/2014/main" id="{2CF3CA49-8D93-194D-E60A-87C243CBE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5" name="Image 4" descr="Une image contenant texte, diagramme, ligne, Parallèle&#10;&#10;Le contenu généré par l’IA peut être incorrect.">
            <a:extLst>
              <a:ext uri="{FF2B5EF4-FFF2-40B4-BE49-F238E27FC236}">
                <a16:creationId xmlns:a16="http://schemas.microsoft.com/office/drawing/2014/main" id="{959939A1-1731-42D8-7B09-D96EEAE67A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68"/>
          <a:stretch>
            <a:fillRect/>
          </a:stretch>
        </p:blipFill>
        <p:spPr>
          <a:xfrm>
            <a:off x="6528048" y="2235026"/>
            <a:ext cx="5430534" cy="338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17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A49F6-2078-9343-70A6-32D8B8949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8E5A1130-03C5-996E-6FA0-FD1B3773E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3158"/>
            <a:ext cx="10805160" cy="707886"/>
          </a:xfrm>
        </p:spPr>
        <p:txBody>
          <a:bodyPr rtlCol="0"/>
          <a:lstStyle/>
          <a:p>
            <a:pPr rtl="0"/>
            <a:r>
              <a:rPr lang="fr-FR" dirty="0"/>
              <a:t>Exploration des données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06A86067-17DA-6F57-BBD4-D4158FF6F0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1794201"/>
            <a:ext cx="5907401" cy="4457534"/>
          </a:xfrm>
        </p:spPr>
        <p:txBody>
          <a:bodyPr rtlCol="0">
            <a:normAutofit fontScale="92500" lnSpcReduction="20000"/>
          </a:bodyPr>
          <a:lstStyle/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dirty="0">
                <a:latin typeface="Tw Cen MT (Corps)"/>
              </a:rPr>
              <a:t>Corrélations fortes : </a:t>
            </a:r>
            <a:r>
              <a:rPr lang="fr-FR" altLang="fr-FR" dirty="0" err="1">
                <a:latin typeface="Tw Cen MT (Corps)"/>
              </a:rPr>
              <a:t>margin_low</a:t>
            </a:r>
            <a:r>
              <a:rPr lang="fr-FR" altLang="fr-FR" dirty="0">
                <a:latin typeface="Tw Cen MT (Corps)"/>
              </a:rPr>
              <a:t> </a:t>
            </a:r>
            <a:r>
              <a:rPr lang="fr-CI" dirty="0"/>
              <a:t>↔ </a:t>
            </a:r>
            <a:r>
              <a:rPr lang="fr-CI" dirty="0" err="1"/>
              <a:t>length</a:t>
            </a:r>
            <a:r>
              <a:rPr lang="fr-CI" dirty="0"/>
              <a:t> </a:t>
            </a:r>
            <a:r>
              <a:rPr lang="fr-FR" altLang="fr-FR" dirty="0">
                <a:latin typeface="Arial" panose="020B0604020202020204" pitchFamily="34" charset="0"/>
              </a:rPr>
              <a:t>(</a:t>
            </a:r>
            <a:r>
              <a:rPr lang="fr-FR" altLang="fr-FR" dirty="0">
                <a:latin typeface="Tw Cen MT (Corps)"/>
              </a:rPr>
              <a:t>≈ –0,70) et </a:t>
            </a:r>
            <a:r>
              <a:rPr lang="fr-FR" altLang="fr-FR" dirty="0" err="1">
                <a:latin typeface="Tw Cen MT (Corps)"/>
              </a:rPr>
              <a:t>height_left</a:t>
            </a:r>
            <a:r>
              <a:rPr lang="fr-FR" altLang="fr-FR" dirty="0">
                <a:latin typeface="Tw Cen MT (Corps)"/>
              </a:rPr>
              <a:t> </a:t>
            </a:r>
            <a:r>
              <a:rPr lang="fr-CI" dirty="0"/>
              <a:t>↔ </a:t>
            </a:r>
            <a:r>
              <a:rPr lang="fr-CI" dirty="0" err="1"/>
              <a:t>height_right</a:t>
            </a:r>
            <a:r>
              <a:rPr lang="fr-CI" dirty="0"/>
              <a:t> </a:t>
            </a:r>
            <a:r>
              <a:rPr lang="fr-FR" altLang="fr-FR" dirty="0">
                <a:latin typeface="Arial" panose="020B0604020202020204" pitchFamily="34" charset="0"/>
              </a:rPr>
              <a:t>(</a:t>
            </a:r>
            <a:r>
              <a:rPr lang="fr-FR" altLang="fr-FR" dirty="0">
                <a:latin typeface="Tw Cen MT (Corps)"/>
              </a:rPr>
              <a:t>≈ +0,80) </a:t>
            </a:r>
            <a:r>
              <a:rPr lang="fr-FR" b="1" dirty="0"/>
              <a:t>→</a:t>
            </a:r>
            <a:r>
              <a:rPr lang="fr-FR" dirty="0"/>
              <a:t> Relations structurantes, avec opposition marges/longueur et redondance des hauteurs.</a:t>
            </a:r>
            <a:endParaRPr lang="fr-FR" altLang="fr-FR" dirty="0">
              <a:latin typeface="Tw Cen MT (Corps)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dirty="0">
                <a:latin typeface="Tw Cen MT (Corps)"/>
              </a:rPr>
              <a:t>Corrélations modérées : </a:t>
            </a:r>
            <a:r>
              <a:rPr lang="fr-FR" altLang="fr-FR" dirty="0" err="1">
                <a:latin typeface="Tw Cen MT (Corps)"/>
              </a:rPr>
              <a:t>margin_low</a:t>
            </a:r>
            <a:r>
              <a:rPr lang="fr-FR" altLang="fr-FR" dirty="0">
                <a:latin typeface="Tw Cen MT (Corps)"/>
              </a:rPr>
              <a:t> </a:t>
            </a:r>
            <a:r>
              <a:rPr lang="fr-CI" dirty="0"/>
              <a:t>↔ </a:t>
            </a:r>
            <a:r>
              <a:rPr lang="fr-CI" dirty="0" err="1"/>
              <a:t>margin_up</a:t>
            </a:r>
            <a:r>
              <a:rPr lang="fr-CI" dirty="0"/>
              <a:t> </a:t>
            </a:r>
            <a:r>
              <a:rPr lang="fr-FR" altLang="fr-FR" dirty="0">
                <a:latin typeface="Arial" panose="020B0604020202020204" pitchFamily="34" charset="0"/>
              </a:rPr>
              <a:t>(</a:t>
            </a:r>
            <a:r>
              <a:rPr lang="fr-FR" altLang="fr-FR" dirty="0">
                <a:latin typeface="Tw Cen MT (Corps)"/>
              </a:rPr>
              <a:t>≈+0,40) et </a:t>
            </a:r>
            <a:r>
              <a:rPr lang="fr-FR" altLang="fr-FR" dirty="0" err="1">
                <a:latin typeface="Tw Cen MT (Corps)"/>
              </a:rPr>
              <a:t>margin_up</a:t>
            </a:r>
            <a:r>
              <a:rPr lang="fr-FR" altLang="fr-FR" dirty="0">
                <a:latin typeface="Tw Cen MT (Corps)"/>
              </a:rPr>
              <a:t> </a:t>
            </a:r>
            <a:r>
              <a:rPr lang="fr-CI" dirty="0"/>
              <a:t>↔ </a:t>
            </a:r>
            <a:r>
              <a:rPr lang="fr-CI" dirty="0" err="1"/>
              <a:t>length</a:t>
            </a:r>
            <a:r>
              <a:rPr lang="fr-CI" dirty="0"/>
              <a:t> </a:t>
            </a:r>
            <a:r>
              <a:rPr lang="fr-FR" altLang="fr-FR" dirty="0">
                <a:latin typeface="Arial" panose="020B0604020202020204" pitchFamily="34" charset="0"/>
              </a:rPr>
              <a:t>(</a:t>
            </a:r>
            <a:r>
              <a:rPr lang="fr-FR" altLang="fr-FR" dirty="0">
                <a:latin typeface="Tw Cen MT (Corps)"/>
              </a:rPr>
              <a:t>≈-0,30) </a:t>
            </a:r>
            <a:r>
              <a:rPr lang="fr-FR" b="1" dirty="0"/>
              <a:t>→ </a:t>
            </a:r>
            <a:r>
              <a:rPr lang="fr-CI" dirty="0"/>
              <a:t>cohérence partielle sans duplication.</a:t>
            </a:r>
            <a:endParaRPr lang="fr-FR" altLang="fr-FR" dirty="0">
              <a:latin typeface="Tw Cen MT (Corps)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dirty="0">
              <a:latin typeface="Tw Cen MT (Corps)"/>
            </a:endParaRPr>
          </a:p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dirty="0">
                <a:latin typeface="Tw Cen MT (Corps)"/>
              </a:rPr>
              <a:t>Corrélations faibles : diagonal reste faiblement liée aux autres (&lt;0,20)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dirty="0">
                <a:latin typeface="Tw Cen MT (Corps)"/>
              </a:rPr>
              <a:t>Le duo </a:t>
            </a:r>
            <a:r>
              <a:rPr lang="fr-FR" altLang="fr-FR" dirty="0" err="1">
                <a:latin typeface="Tw Cen MT (Corps)"/>
              </a:rPr>
              <a:t>margin_low</a:t>
            </a:r>
            <a:r>
              <a:rPr lang="fr-FR" altLang="fr-FR" dirty="0">
                <a:latin typeface="Tw Cen MT (Corps)"/>
              </a:rPr>
              <a:t> +</a:t>
            </a:r>
            <a:r>
              <a:rPr lang="fr-CI" dirty="0"/>
              <a:t> </a:t>
            </a:r>
            <a:r>
              <a:rPr lang="fr-CI" dirty="0" err="1"/>
              <a:t>length</a:t>
            </a:r>
            <a:r>
              <a:rPr lang="fr-CI" dirty="0"/>
              <a:t> </a:t>
            </a:r>
            <a:r>
              <a:rPr lang="fr-FR" dirty="0"/>
              <a:t>porte l’essentiel du pouvoir discriminant, tandis que les hauteurs sont redondantes et diagonal marginale.</a:t>
            </a:r>
            <a:endParaRPr lang="fr-FR" altLang="fr-FR" dirty="0">
              <a:latin typeface="Tw Cen MT (Corps)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dirty="0">
              <a:latin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fr-CI" dirty="0"/>
          </a:p>
          <a:p>
            <a:pPr lvl="1">
              <a:lnSpc>
                <a:spcPct val="120000"/>
              </a:lnSpc>
            </a:pPr>
            <a:endParaRPr lang="fr-FR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3A9E133-5B80-5A02-7358-9701B61BF3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180880"/>
            <a:ext cx="10837333" cy="424732"/>
          </a:xfrm>
        </p:spPr>
        <p:txBody>
          <a:bodyPr rtlCol="0"/>
          <a:lstStyle/>
          <a:p>
            <a:r>
              <a:rPr lang="fr-CI" dirty="0"/>
              <a:t>Visualisation de la distribution des variables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9D8F63B-1B6E-1AF8-5D46-8FFAE6A5B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smtClean="0"/>
              <a:pPr rtl="0"/>
              <a:t>6</a:t>
            </a:fld>
            <a:endParaRPr lang="fr-FR"/>
          </a:p>
        </p:txBody>
      </p:sp>
      <p:sp>
        <p:nvSpPr>
          <p:cNvPr id="18" name="Espace réservé du texte 119">
            <a:extLst>
              <a:ext uri="{FF2B5EF4-FFF2-40B4-BE49-F238E27FC236}">
                <a16:creationId xmlns:a16="http://schemas.microsoft.com/office/drawing/2014/main" id="{F3B194FE-2B4A-C989-7BA2-A3D9C6A58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/>
          </a:p>
        </p:txBody>
      </p:sp>
      <p:pic>
        <p:nvPicPr>
          <p:cNvPr id="10" name="Espace réservé d’image 5">
            <a:extLst>
              <a:ext uri="{FF2B5EF4-FFF2-40B4-BE49-F238E27FC236}">
                <a16:creationId xmlns:a16="http://schemas.microsoft.com/office/drawing/2014/main" id="{1484BA62-34F2-7BD4-D9D8-32B279A00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6" name="Image 5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1D1DD9FD-D839-D407-17B7-50519EA95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809" y="1974724"/>
            <a:ext cx="4968551" cy="4565122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D94D0274-6628-BCCD-9E6A-4C77A4AB3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≈ –0,70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536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00DEE-247C-5B15-E6C9-ADAAE0387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0627D91A-1D87-C7AF-7A0F-6928143F6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3158"/>
            <a:ext cx="10805160" cy="707886"/>
          </a:xfrm>
        </p:spPr>
        <p:txBody>
          <a:bodyPr rtlCol="0"/>
          <a:lstStyle/>
          <a:p>
            <a:pPr rtl="0"/>
            <a:r>
              <a:rPr lang="fr-FR" dirty="0"/>
              <a:t>Exploration des données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B7AE995C-600C-1F6F-0481-0488F82E7D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065672"/>
            <a:ext cx="5907401" cy="3926362"/>
          </a:xfrm>
        </p:spPr>
        <p:txBody>
          <a:bodyPr rtlCol="0">
            <a:normAutofit fontScale="92500" lnSpcReduction="20000"/>
          </a:bodyPr>
          <a:lstStyle/>
          <a:p>
            <a:pPr lv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CI" altLang="fr-FR" dirty="0">
                <a:latin typeface="Tw Cen MT (Corps)"/>
              </a:rPr>
              <a:t>Variables très discriminantes : </a:t>
            </a:r>
            <a:r>
              <a:rPr lang="fr-CI" altLang="fr-FR" dirty="0" err="1">
                <a:latin typeface="Tw Cen MT (Corps)"/>
              </a:rPr>
              <a:t>length</a:t>
            </a:r>
            <a:r>
              <a:rPr lang="fr-CI" altLang="fr-FR" dirty="0">
                <a:latin typeface="Tw Cen MT (Corps)"/>
              </a:rPr>
              <a:t> et </a:t>
            </a:r>
            <a:r>
              <a:rPr lang="fr-CI" altLang="fr-FR" dirty="0" err="1">
                <a:latin typeface="Tw Cen MT (Corps)"/>
              </a:rPr>
              <a:t>margin_low</a:t>
            </a:r>
            <a:r>
              <a:rPr lang="fr-CI" altLang="fr-FR" dirty="0">
                <a:latin typeface="Tw Cen MT (Corps)"/>
              </a:rPr>
              <a:t> séparent nettement vrais et faux, avec une relation inverse cohérente.</a:t>
            </a:r>
            <a:endParaRPr lang="fr-FR" altLang="fr-FR" dirty="0">
              <a:latin typeface="Tw Cen MT (Corps)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dirty="0">
                <a:latin typeface="Tw Cen MT (Corps)"/>
              </a:rPr>
              <a:t>Variables secondaires : </a:t>
            </a:r>
            <a:r>
              <a:rPr lang="fr-CI" dirty="0" err="1"/>
              <a:t>margin_up</a:t>
            </a:r>
            <a:r>
              <a:rPr lang="fr-CI" dirty="0"/>
              <a:t>, </a:t>
            </a:r>
            <a:r>
              <a:rPr lang="fr-CI" dirty="0" err="1"/>
              <a:t>height_left</a:t>
            </a:r>
            <a:r>
              <a:rPr lang="fr-CI" dirty="0"/>
              <a:t> et </a:t>
            </a:r>
            <a:r>
              <a:rPr lang="fr-CI" dirty="0" err="1"/>
              <a:t>height_right</a:t>
            </a:r>
            <a:r>
              <a:rPr lang="fr-CI" dirty="0"/>
              <a:t> montrent un décalage mais beaucoup de chevauchement.</a:t>
            </a:r>
            <a:endParaRPr lang="fr-FR" altLang="fr-FR" dirty="0">
              <a:latin typeface="Tw Cen MT (Corps)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dirty="0">
              <a:latin typeface="Tw Cen MT (Corps)"/>
            </a:endParaRPr>
          </a:p>
          <a:p>
            <a:pPr lv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dirty="0">
                <a:latin typeface="Tw Cen MT (Corps)"/>
              </a:rPr>
              <a:t>Variables peu utiles : diagonal discrimine très peu et les hauteurs sont en partie redondantes.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dirty="0">
                <a:latin typeface="Tw Cen MT (Corps)"/>
              </a:rPr>
              <a:t>La distinction repose surtout sur le duo </a:t>
            </a:r>
            <a:r>
              <a:rPr lang="fr-FR" altLang="fr-FR" dirty="0" err="1">
                <a:latin typeface="Tw Cen MT (Corps)"/>
              </a:rPr>
              <a:t>margin_low</a:t>
            </a:r>
            <a:r>
              <a:rPr lang="fr-FR" altLang="fr-FR" dirty="0">
                <a:latin typeface="Tw Cen MT (Corps)"/>
              </a:rPr>
              <a:t> +</a:t>
            </a:r>
            <a:r>
              <a:rPr lang="fr-CI" dirty="0"/>
              <a:t> </a:t>
            </a:r>
            <a:r>
              <a:rPr lang="fr-CI" dirty="0" err="1"/>
              <a:t>length</a:t>
            </a:r>
            <a:r>
              <a:rPr lang="fr-CI" dirty="0"/>
              <a:t>, qui forme la séparation la plus nette entres les deux classes</a:t>
            </a:r>
            <a:r>
              <a:rPr lang="fr-FR" dirty="0"/>
              <a:t>.</a:t>
            </a:r>
            <a:endParaRPr lang="fr-FR" altLang="fr-FR" dirty="0">
              <a:latin typeface="Tw Cen MT (Corps)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dirty="0"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endParaRPr lang="fr-CI" dirty="0"/>
          </a:p>
          <a:p>
            <a:pPr lvl="1">
              <a:lnSpc>
                <a:spcPct val="110000"/>
              </a:lnSpc>
            </a:pPr>
            <a:endParaRPr lang="fr-FR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3909FC6-5541-601D-D672-8F00EFCF34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180880"/>
            <a:ext cx="10837333" cy="424732"/>
          </a:xfrm>
        </p:spPr>
        <p:txBody>
          <a:bodyPr rtlCol="0"/>
          <a:lstStyle/>
          <a:p>
            <a:r>
              <a:rPr lang="fr-CI" dirty="0"/>
              <a:t>Visualisation </a:t>
            </a:r>
            <a:r>
              <a:rPr lang="fr-FR" dirty="0"/>
              <a:t>des relations deux à deux entre toutes les variables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2D3F6FF-ED2C-5910-CCEA-02669B36A8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smtClean="0"/>
              <a:pPr rtl="0"/>
              <a:t>7</a:t>
            </a:fld>
            <a:endParaRPr lang="fr-FR"/>
          </a:p>
        </p:txBody>
      </p:sp>
      <p:sp>
        <p:nvSpPr>
          <p:cNvPr id="18" name="Espace réservé du texte 119">
            <a:extLst>
              <a:ext uri="{FF2B5EF4-FFF2-40B4-BE49-F238E27FC236}">
                <a16:creationId xmlns:a16="http://schemas.microsoft.com/office/drawing/2014/main" id="{D51825A5-B101-E876-A14C-B3ED4E91D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/>
          </a:p>
        </p:txBody>
      </p:sp>
      <p:pic>
        <p:nvPicPr>
          <p:cNvPr id="10" name="Espace réservé d’image 5">
            <a:extLst>
              <a:ext uri="{FF2B5EF4-FFF2-40B4-BE49-F238E27FC236}">
                <a16:creationId xmlns:a16="http://schemas.microsoft.com/office/drawing/2014/main" id="{BAC7E3B5-0415-8807-2B49-2ED34D6DC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F0022ACD-571E-BE55-9D93-72DF623C2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≈ –0,70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4" descr="Une image contenant texte, motif, capture d’écran, Arts créatifs&#10;&#10;Le contenu généré par l’IA peut être incorrect.">
            <a:extLst>
              <a:ext uri="{FF2B5EF4-FFF2-40B4-BE49-F238E27FC236}">
                <a16:creationId xmlns:a16="http://schemas.microsoft.com/office/drawing/2014/main" id="{DDD0E69C-C24D-3033-FAF9-A1250FA82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041" y="2065672"/>
            <a:ext cx="5566403" cy="339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028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DB9A6-39B4-1031-42A2-6C312F573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1EC504A9-AA08-BA6C-8E7E-B433B2782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3158"/>
            <a:ext cx="10805160" cy="707886"/>
          </a:xfrm>
        </p:spPr>
        <p:txBody>
          <a:bodyPr rtlCol="0"/>
          <a:lstStyle/>
          <a:p>
            <a:r>
              <a:rPr lang="fr-FR" dirty="0"/>
              <a:t>Exploration des données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3ABBBACD-2F44-0F6F-B341-950CB014C2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9336" y="2778294"/>
            <a:ext cx="6408713" cy="2647541"/>
          </a:xfrm>
        </p:spPr>
        <p:txBody>
          <a:bodyPr rtlCol="0">
            <a:norm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sz="1800" dirty="0">
                <a:latin typeface="Tw Cen MT (Corps)"/>
              </a:rPr>
              <a:t>Vrais billets : </a:t>
            </a:r>
            <a:r>
              <a:rPr lang="fr-FR" sz="1800" dirty="0" err="1"/>
              <a:t>margin_low</a:t>
            </a:r>
            <a:r>
              <a:rPr lang="fr-FR" sz="1800" dirty="0"/>
              <a:t> (z&lt;0) + </a:t>
            </a:r>
            <a:r>
              <a:rPr lang="fr-FR" sz="1800" dirty="0" err="1"/>
              <a:t>length</a:t>
            </a:r>
            <a:r>
              <a:rPr lang="fr-FR" sz="1800" dirty="0"/>
              <a:t> (z&gt;0) → géométrie régulière et conforme.</a:t>
            </a:r>
            <a:endParaRPr lang="fr-FR" altLang="fr-FR" sz="18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sz="1800" dirty="0">
                <a:latin typeface="Tw Cen MT (Corps)"/>
              </a:rPr>
              <a:t>Faux billets :</a:t>
            </a:r>
            <a:r>
              <a:rPr lang="fr-FR" sz="1800" dirty="0"/>
              <a:t> </a:t>
            </a:r>
            <a:r>
              <a:rPr lang="fr-FR" sz="1800" dirty="0" err="1"/>
              <a:t>margin_low</a:t>
            </a:r>
            <a:r>
              <a:rPr lang="fr-FR" sz="1800" dirty="0"/>
              <a:t> (z&gt;0) + </a:t>
            </a:r>
            <a:r>
              <a:rPr lang="fr-FR" sz="1800" dirty="0" err="1"/>
              <a:t>length</a:t>
            </a:r>
            <a:r>
              <a:rPr lang="fr-FR" sz="1800" dirty="0"/>
              <a:t> (z&lt;0) → </a:t>
            </a:r>
            <a:r>
              <a:rPr lang="fr-FR" sz="1800" dirty="0" err="1"/>
              <a:t>déplacemet</a:t>
            </a:r>
            <a:r>
              <a:rPr lang="fr-FR" sz="1800" dirty="0"/>
              <a:t> net dans l’espace des deux variables.</a:t>
            </a:r>
            <a:endParaRPr lang="fr-FR" altLang="fr-F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1800" dirty="0"/>
              <a:t>le duo </a:t>
            </a:r>
            <a:r>
              <a:rPr lang="fr-FR" sz="1800" dirty="0" err="1"/>
              <a:t>margin_low</a:t>
            </a:r>
            <a:r>
              <a:rPr lang="fr-FR" sz="1800" dirty="0"/>
              <a:t> + </a:t>
            </a:r>
            <a:r>
              <a:rPr lang="fr-FR" sz="1800" dirty="0" err="1"/>
              <a:t>length</a:t>
            </a:r>
            <a:r>
              <a:rPr lang="fr-FR" sz="1800" dirty="0"/>
              <a:t> reste le meilleur axe de séparation VRAI et FAUX.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sz="1800" dirty="0">
              <a:latin typeface="Arial" panose="020B0604020202020204" pitchFamily="34" charset="0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757F767-EBC5-4290-1461-3C65DD8250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180880"/>
            <a:ext cx="10837333" cy="424732"/>
          </a:xfrm>
        </p:spPr>
        <p:txBody>
          <a:bodyPr rtlCol="0"/>
          <a:lstStyle/>
          <a:p>
            <a:r>
              <a:rPr lang="fr-FR" dirty="0"/>
              <a:t>Visualisation de la relation entre </a:t>
            </a:r>
            <a:r>
              <a:rPr lang="fr-FR" dirty="0" err="1"/>
              <a:t>margin_low</a:t>
            </a:r>
            <a:r>
              <a:rPr lang="fr-FR" dirty="0"/>
              <a:t> et </a:t>
            </a:r>
            <a:r>
              <a:rPr lang="fr-FR" dirty="0" err="1"/>
              <a:t>length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8AF3924-4637-59C4-EE79-13BE60A47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smtClean="0"/>
              <a:pPr rtl="0"/>
              <a:t>8</a:t>
            </a:fld>
            <a:endParaRPr lang="fr-FR"/>
          </a:p>
        </p:txBody>
      </p:sp>
      <p:sp>
        <p:nvSpPr>
          <p:cNvPr id="18" name="Espace réservé du texte 119">
            <a:extLst>
              <a:ext uri="{FF2B5EF4-FFF2-40B4-BE49-F238E27FC236}">
                <a16:creationId xmlns:a16="http://schemas.microsoft.com/office/drawing/2014/main" id="{C5D0301A-0510-CE7F-44C0-AD7791258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/>
          </a:p>
        </p:txBody>
      </p:sp>
      <p:pic>
        <p:nvPicPr>
          <p:cNvPr id="10" name="Espace réservé d’image 5">
            <a:extLst>
              <a:ext uri="{FF2B5EF4-FFF2-40B4-BE49-F238E27FC236}">
                <a16:creationId xmlns:a16="http://schemas.microsoft.com/office/drawing/2014/main" id="{2749009B-2B1F-A22C-2A75-2124173D7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19" name="Image 18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4474B869-FDEE-2BF6-9F9C-1E765B042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056" y="2241098"/>
            <a:ext cx="5472608" cy="334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887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E02B9606-F9BC-40CD-9467-6348ACE41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A682397A-D234-4487-8E63-23B79C76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13" name="Titre 12">
            <a:extLst>
              <a:ext uri="{FF2B5EF4-FFF2-40B4-BE49-F238E27FC236}">
                <a16:creationId xmlns:a16="http://schemas.microsoft.com/office/drawing/2014/main" id="{D7199992-58FE-4335-A811-6AFA96B5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CI" dirty="0"/>
              <a:t>Construction des modèles</a:t>
            </a:r>
            <a:endParaRPr lang="fr-FR" dirty="0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CF8FCB52-DD55-48F6-9F4A-D2A0F6586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rtlCol="0"/>
          <a:lstStyle/>
          <a:p>
            <a:pPr rt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9052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9D24509E-BB74-42FE-A9A8-F01572CD0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188" y="547874"/>
            <a:ext cx="10805160" cy="707886"/>
          </a:xfrm>
        </p:spPr>
        <p:txBody>
          <a:bodyPr rtlCol="0"/>
          <a:lstStyle/>
          <a:p>
            <a:r>
              <a:rPr lang="fr-FR" dirty="0"/>
              <a:t>Validation : TRAIN/TEST + règles de classification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4F6BA4CE-8BD2-419E-A270-15A0EFE01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smtClean="0"/>
              <a:pPr rtl="0"/>
              <a:t>10</a:t>
            </a:fld>
            <a:endParaRPr lang="fr-FR"/>
          </a:p>
        </p:txBody>
      </p:sp>
      <p:sp>
        <p:nvSpPr>
          <p:cNvPr id="12" name="Espace réservé du texte 119">
            <a:extLst>
              <a:ext uri="{FF2B5EF4-FFF2-40B4-BE49-F238E27FC236}">
                <a16:creationId xmlns:a16="http://schemas.microsoft.com/office/drawing/2014/main" id="{C0F25050-A2F4-4F04-ACDB-1E6965034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AA3A8A3-1640-26F7-32B8-FFE74D1F3392}"/>
              </a:ext>
            </a:extLst>
          </p:cNvPr>
          <p:cNvSpPr txBox="1"/>
          <p:nvPr/>
        </p:nvSpPr>
        <p:spPr>
          <a:xfrm>
            <a:off x="332456" y="1340768"/>
            <a:ext cx="11859544" cy="4657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Split 80/20 stratifié : TRAIN = 1171, TEST = 292 (Mêmes proportions VRAI/FAUX).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TRAIN : Choix/Optimisation des paramètres (CV ou OOB selon modèle)</a:t>
            </a:r>
            <a:r>
              <a:rPr lang="en-US" sz="2000" dirty="0"/>
              <a:t>.</a:t>
            </a:r>
            <a:r>
              <a:rPr lang="fr-CI" sz="20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TEST : Évaluation finale sur données jamais vues (métriques centrées sur la classe FAUX).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Règle de classification par modèle :</a:t>
            </a:r>
            <a:endParaRPr lang="fr-CI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Régression logistique (supervisé) : Calcule </a:t>
            </a:r>
            <a:r>
              <a:rPr lang="fr-FR" sz="2000" i="1" dirty="0"/>
              <a:t>P(FAUX)</a:t>
            </a:r>
            <a:r>
              <a:rPr lang="fr-FR" sz="2000" dirty="0"/>
              <a:t> → FAUX si P(FAUX) ≥ 0,5 (sinon VRAI).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KNN (supervisé) : Vote des k=13 plus proches voisins → Classe majoritaire (Proba = Part de voisins FAUX).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/>
              <a:t>Random</a:t>
            </a:r>
            <a:r>
              <a:rPr lang="fr-FR" sz="2000" dirty="0"/>
              <a:t> Forest (supervisé) : Vote de 500 arbres (</a:t>
            </a:r>
            <a:r>
              <a:rPr lang="fr-FR" sz="2000" dirty="0" err="1"/>
              <a:t>mtry</a:t>
            </a:r>
            <a:r>
              <a:rPr lang="fr-FR" sz="2000" dirty="0"/>
              <a:t>=1) → Classe majoritaire (Proba = % d’arbres “FAUX”).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K-</a:t>
            </a:r>
            <a:r>
              <a:rPr lang="fr-FR" sz="2000" dirty="0" err="1"/>
              <a:t>means</a:t>
            </a:r>
            <a:r>
              <a:rPr lang="fr-FR" sz="2000" dirty="0"/>
              <a:t> (Non supervisé / Indicatif) : Regroupe en k=2 clusters, puis </a:t>
            </a:r>
            <a:r>
              <a:rPr lang="fr-FR" sz="2000" dirty="0" err="1"/>
              <a:t>map</a:t>
            </a:r>
            <a:r>
              <a:rPr lang="fr-FR" sz="2000" dirty="0"/>
              <a:t> cluster → Classe par majorité observée sur TRAIN → Applique au TEST.</a:t>
            </a:r>
          </a:p>
        </p:txBody>
      </p:sp>
    </p:spTree>
    <p:extLst>
      <p:ext uri="{BB962C8B-B14F-4D97-AF65-F5344CB8AC3E}">
        <p14:creationId xmlns:p14="http://schemas.microsoft.com/office/powerpoint/2010/main" val="1965089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1D09B-94F7-FA74-7741-07ABC55C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6A45C3A0-D6A0-6E5F-CCCB-D846CD999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3158"/>
            <a:ext cx="10805160" cy="707886"/>
          </a:xfrm>
        </p:spPr>
        <p:txBody>
          <a:bodyPr rtlCol="0"/>
          <a:lstStyle/>
          <a:p>
            <a:r>
              <a:rPr lang="fr-CI" dirty="0"/>
              <a:t>Régression logistique</a:t>
            </a:r>
            <a:endParaRPr lang="fr-FR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2883C2E1-C81A-D9A3-7A33-5FEFC26B4A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376" y="1696286"/>
            <a:ext cx="10717997" cy="4180986"/>
          </a:xfrm>
        </p:spPr>
        <p:txBody>
          <a:bodyPr rtlCol="0">
            <a:noAutofit/>
          </a:bodyPr>
          <a:lstStyle/>
          <a:p>
            <a:pPr>
              <a:lnSpc>
                <a:spcPct val="120000"/>
              </a:lnSpc>
            </a:pPr>
            <a:r>
              <a:rPr lang="fr-FR" sz="1600" dirty="0"/>
              <a:t>Phase A: Construire un modèle interprétable et robuste, optimisé sur TRAIN. </a:t>
            </a:r>
          </a:p>
          <a:p>
            <a:pPr lvl="1">
              <a:lnSpc>
                <a:spcPct val="120000"/>
              </a:lnSpc>
            </a:pPr>
            <a:r>
              <a:rPr lang="fr-CI" sz="1600" dirty="0"/>
              <a:t>Modèle de départ : </a:t>
            </a:r>
            <a:r>
              <a:rPr lang="fr-FR" sz="1600" dirty="0"/>
              <a:t>Régression logistique binaire (classification VRAI/FAUX) avec </a:t>
            </a:r>
            <a:r>
              <a:rPr lang="en-US" sz="1600" dirty="0"/>
              <a:t>6 </a:t>
            </a:r>
            <a:r>
              <a:rPr lang="en-US" sz="1600" dirty="0" err="1"/>
              <a:t>mesures</a:t>
            </a:r>
            <a:r>
              <a:rPr lang="en-US" sz="1600" dirty="0"/>
              <a:t> : </a:t>
            </a:r>
            <a:r>
              <a:rPr lang="en-US" sz="1600" i="1" dirty="0"/>
              <a:t>diagonal, </a:t>
            </a:r>
            <a:r>
              <a:rPr lang="en-US" sz="1600" i="1" dirty="0" err="1"/>
              <a:t>height_left</a:t>
            </a:r>
            <a:r>
              <a:rPr lang="en-US" sz="1600" i="1" dirty="0"/>
              <a:t>, </a:t>
            </a:r>
            <a:r>
              <a:rPr lang="en-US" sz="1600" i="1" dirty="0" err="1"/>
              <a:t>height_right</a:t>
            </a:r>
            <a:r>
              <a:rPr lang="en-US" sz="1600" i="1" dirty="0"/>
              <a:t>, </a:t>
            </a:r>
            <a:r>
              <a:rPr lang="en-US" sz="1600" i="1" dirty="0" err="1"/>
              <a:t>margin_low</a:t>
            </a:r>
            <a:r>
              <a:rPr lang="en-US" sz="1600" i="1" dirty="0"/>
              <a:t>, </a:t>
            </a:r>
            <a:r>
              <a:rPr lang="en-US" sz="1600" i="1" dirty="0" err="1"/>
              <a:t>margin_up</a:t>
            </a:r>
            <a:r>
              <a:rPr lang="en-US" sz="1600" i="1" dirty="0"/>
              <a:t>, length</a:t>
            </a:r>
            <a:endParaRPr lang="fr-CI" sz="1600" dirty="0"/>
          </a:p>
          <a:p>
            <a:pPr lvl="1">
              <a:lnSpc>
                <a:spcPct val="120000"/>
              </a:lnSpc>
            </a:pPr>
            <a:r>
              <a:rPr lang="fr-FR" sz="1600" dirty="0"/>
              <a:t>Optimisation (</a:t>
            </a:r>
            <a:r>
              <a:rPr lang="fr-FR" sz="1600" dirty="0" err="1"/>
              <a:t>backward</a:t>
            </a:r>
            <a:r>
              <a:rPr lang="fr-FR" sz="1600" dirty="0"/>
              <a:t>, </a:t>
            </a:r>
            <a:r>
              <a:rPr lang="el-GR" sz="1600" dirty="0"/>
              <a:t>α = 5%</a:t>
            </a:r>
            <a:r>
              <a:rPr lang="fr-FR" sz="1600" dirty="0"/>
              <a:t>) : Retrait successif des variables non significatives (p-value max) </a:t>
            </a:r>
          </a:p>
          <a:p>
            <a:pPr lvl="1">
              <a:lnSpc>
                <a:spcPct val="120000"/>
              </a:lnSpc>
            </a:pPr>
            <a:r>
              <a:rPr lang="fr-CI" sz="1600" dirty="0"/>
              <a:t>Modèle retenu : </a:t>
            </a:r>
            <a:r>
              <a:rPr lang="en-US" sz="1600" dirty="0" err="1"/>
              <a:t>is_genuine</a:t>
            </a:r>
            <a:r>
              <a:rPr lang="en-US" sz="1600" dirty="0"/>
              <a:t> ~ </a:t>
            </a:r>
            <a:r>
              <a:rPr lang="en-US" sz="1600" dirty="0" err="1"/>
              <a:t>height_right</a:t>
            </a:r>
            <a:r>
              <a:rPr lang="en-US" sz="1600" dirty="0"/>
              <a:t> + </a:t>
            </a:r>
            <a:r>
              <a:rPr lang="en-US" sz="1600" dirty="0" err="1"/>
              <a:t>margin_low</a:t>
            </a:r>
            <a:r>
              <a:rPr lang="en-US" sz="1600" dirty="0"/>
              <a:t> + </a:t>
            </a:r>
            <a:r>
              <a:rPr lang="en-US" sz="1600" dirty="0" err="1"/>
              <a:t>margin_up</a:t>
            </a:r>
            <a:r>
              <a:rPr lang="en-US" sz="1600" dirty="0"/>
              <a:t> + length </a:t>
            </a:r>
          </a:p>
          <a:p>
            <a:pPr marL="457200" lvl="2" indent="0">
              <a:lnSpc>
                <a:spcPct val="120000"/>
              </a:lnSpc>
              <a:buNone/>
            </a:pPr>
            <a:r>
              <a:rPr lang="fr-FR" dirty="0"/>
              <a:t>Variables écartées : diagonal, </a:t>
            </a:r>
            <a:r>
              <a:rPr lang="fr-FR" dirty="0" err="1"/>
              <a:t>height_left</a:t>
            </a:r>
            <a:r>
              <a:rPr lang="fr-FR" dirty="0"/>
              <a:t> (faible apport) </a:t>
            </a:r>
          </a:p>
          <a:p>
            <a:pPr lvl="1">
              <a:lnSpc>
                <a:spcPct val="120000"/>
              </a:lnSpc>
            </a:pPr>
            <a:r>
              <a:rPr lang="fr-CI" sz="1600" dirty="0"/>
              <a:t>Traçabilité : </a:t>
            </a:r>
            <a:r>
              <a:rPr lang="fr-FR" sz="1600" dirty="0"/>
              <a:t>Historique des variables retirées, formule, AIC/BIC, pseudo-R² </a:t>
            </a:r>
          </a:p>
          <a:p>
            <a:pPr>
              <a:lnSpc>
                <a:spcPct val="120000"/>
              </a:lnSpc>
            </a:pPr>
            <a:r>
              <a:rPr lang="fr-FR" sz="1600" dirty="0"/>
              <a:t>Phase B : </a:t>
            </a:r>
            <a:r>
              <a:rPr lang="fr-CI" sz="1600" dirty="0"/>
              <a:t>Évaluation finale</a:t>
            </a:r>
            <a:endParaRPr lang="fr-FR" sz="1600" dirty="0"/>
          </a:p>
          <a:p>
            <a:pPr lvl="1">
              <a:lnSpc>
                <a:spcPct val="120000"/>
              </a:lnSpc>
            </a:pPr>
            <a:r>
              <a:rPr lang="fr-FR" sz="1600" dirty="0"/>
              <a:t>Application du modèle entraîné sur TEST : Prédiction de la probabilité FAUX (P(FAUX)) pour chaque billet.</a:t>
            </a:r>
          </a:p>
          <a:p>
            <a:pPr lvl="1">
              <a:lnSpc>
                <a:spcPct val="120000"/>
              </a:lnSpc>
            </a:pPr>
            <a:r>
              <a:rPr lang="fr-FR" sz="1600" dirty="0"/>
              <a:t>Décision par seuil (0,5) → Matrice de confusion + métriques centrées sur FAUX : </a:t>
            </a:r>
            <a:r>
              <a:rPr lang="fr-FR" sz="1600" dirty="0" err="1"/>
              <a:t>Recall</a:t>
            </a:r>
            <a:r>
              <a:rPr lang="fr-FR" sz="1600" dirty="0"/>
              <a:t>, </a:t>
            </a:r>
            <a:r>
              <a:rPr lang="fr-FR" sz="1600" dirty="0" err="1"/>
              <a:t>Precision</a:t>
            </a:r>
            <a:r>
              <a:rPr lang="fr-FR" sz="1600" dirty="0"/>
              <a:t>, F1, </a:t>
            </a:r>
            <a:r>
              <a:rPr lang="fr-FR" sz="1600" dirty="0" err="1"/>
              <a:t>Accuracy</a:t>
            </a:r>
            <a:r>
              <a:rPr lang="fr-FR" sz="1600" dirty="0"/>
              <a:t>.</a:t>
            </a:r>
          </a:p>
          <a:p>
            <a:pPr lvl="1">
              <a:lnSpc>
                <a:spcPct val="120000"/>
              </a:lnSpc>
            </a:pPr>
            <a:r>
              <a:rPr lang="fr-FR" sz="1600" dirty="0"/>
              <a:t>ROC/AUC sur TEST pour évaluer la qualité du score indépendamment du seuil.</a:t>
            </a:r>
            <a:endParaRPr lang="fr-CI" sz="1600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225A4AB-8D9D-C733-65AE-EBD8A0C3F9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180880"/>
            <a:ext cx="10837333" cy="424732"/>
          </a:xfrm>
        </p:spPr>
        <p:txBody>
          <a:bodyPr rtlCol="0"/>
          <a:lstStyle/>
          <a:p>
            <a:r>
              <a:rPr lang="fr-FR" dirty="0"/>
              <a:t>Phase A: entraînement + sélection sur TRAIN - </a:t>
            </a:r>
            <a:r>
              <a:rPr lang="en-US" dirty="0"/>
              <a:t>Phase B: </a:t>
            </a:r>
            <a:r>
              <a:rPr lang="fr-CI" dirty="0"/>
              <a:t>Évaluation finale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BDA1B7B-0D67-AE40-605F-E4DAC58B2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smtClean="0"/>
              <a:pPr rtl="0"/>
              <a:t>11</a:t>
            </a:fld>
            <a:endParaRPr lang="fr-FR"/>
          </a:p>
        </p:txBody>
      </p:sp>
      <p:sp>
        <p:nvSpPr>
          <p:cNvPr id="18" name="Espace réservé du texte 119">
            <a:extLst>
              <a:ext uri="{FF2B5EF4-FFF2-40B4-BE49-F238E27FC236}">
                <a16:creationId xmlns:a16="http://schemas.microsoft.com/office/drawing/2014/main" id="{3AD65484-DFC0-12EE-15A2-D229B7CC7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/>
          </a:p>
        </p:txBody>
      </p:sp>
      <p:pic>
        <p:nvPicPr>
          <p:cNvPr id="10" name="Espace réservé d’image 5">
            <a:extLst>
              <a:ext uri="{FF2B5EF4-FFF2-40B4-BE49-F238E27FC236}">
                <a16:creationId xmlns:a16="http://schemas.microsoft.com/office/drawing/2014/main" id="{38A1D186-4FC7-B3BC-C15D-4525270EF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</p:spTree>
    <p:extLst>
      <p:ext uri="{BB962C8B-B14F-4D97-AF65-F5344CB8AC3E}">
        <p14:creationId xmlns:p14="http://schemas.microsoft.com/office/powerpoint/2010/main" val="1803613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C9975-0A35-392A-775C-49F5E3E9B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474F54BA-8A24-F786-6AD1-D6A4A35FF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3158"/>
            <a:ext cx="10805160" cy="707886"/>
          </a:xfrm>
        </p:spPr>
        <p:txBody>
          <a:bodyPr rtlCol="0"/>
          <a:lstStyle/>
          <a:p>
            <a:r>
              <a:rPr lang="fr-CI" dirty="0"/>
              <a:t>Régression logistique</a:t>
            </a:r>
            <a:endParaRPr lang="fr-FR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9B1DFA58-359C-AE57-BFE4-E636865768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5360" y="1695250"/>
            <a:ext cx="6768752" cy="4556486"/>
          </a:xfrm>
        </p:spPr>
        <p:txBody>
          <a:bodyPr rtlCol="0">
            <a:noAutofit/>
          </a:bodyPr>
          <a:lstStyle/>
          <a:p>
            <a:pPr>
              <a:lnSpc>
                <a:spcPct val="120000"/>
              </a:lnSpc>
            </a:pPr>
            <a:r>
              <a:rPr lang="fr-FR" sz="1100" dirty="0"/>
              <a:t>Phase A: Construire un modèle interprétable et robuste, optimisé sur TRAIN. </a:t>
            </a:r>
          </a:p>
          <a:p>
            <a:pPr lvl="1">
              <a:lnSpc>
                <a:spcPct val="120000"/>
              </a:lnSpc>
            </a:pPr>
            <a:r>
              <a:rPr lang="fr-FR" sz="1100" dirty="0" err="1"/>
              <a:t>Backward</a:t>
            </a:r>
            <a:r>
              <a:rPr lang="fr-FR" sz="1100" dirty="0"/>
              <a:t> (α = 5%) : Retrait des variables non significatives → diagonal, puis </a:t>
            </a:r>
            <a:r>
              <a:rPr lang="fr-FR" sz="1100" dirty="0" err="1"/>
              <a:t>height_left</a:t>
            </a:r>
            <a:endParaRPr lang="fr-FR" sz="1100" dirty="0"/>
          </a:p>
          <a:p>
            <a:pPr lvl="1">
              <a:lnSpc>
                <a:spcPct val="120000"/>
              </a:lnSpc>
            </a:pPr>
            <a:r>
              <a:rPr lang="fr-FR" sz="1100" dirty="0"/>
              <a:t> </a:t>
            </a:r>
            <a:r>
              <a:rPr lang="en-US" sz="1100" dirty="0" err="1"/>
              <a:t>Modèle</a:t>
            </a:r>
            <a:r>
              <a:rPr lang="en-US" sz="1100" dirty="0"/>
              <a:t> final : </a:t>
            </a:r>
            <a:r>
              <a:rPr lang="en-US" sz="1100" dirty="0" err="1"/>
              <a:t>height_right</a:t>
            </a:r>
            <a:r>
              <a:rPr lang="en-US" sz="1100" dirty="0"/>
              <a:t> + </a:t>
            </a:r>
            <a:r>
              <a:rPr lang="en-US" sz="1100" dirty="0" err="1"/>
              <a:t>margin_low</a:t>
            </a:r>
            <a:r>
              <a:rPr lang="en-US" sz="1100" dirty="0"/>
              <a:t> + </a:t>
            </a:r>
            <a:r>
              <a:rPr lang="en-US" sz="1100" dirty="0" err="1"/>
              <a:t>margin_up</a:t>
            </a:r>
            <a:r>
              <a:rPr lang="en-US" sz="1100" dirty="0"/>
              <a:t> + length (</a:t>
            </a:r>
            <a:r>
              <a:rPr lang="en-US" sz="1100" dirty="0" err="1"/>
              <a:t>toutes</a:t>
            </a:r>
            <a:r>
              <a:rPr lang="en-US" sz="1100" dirty="0"/>
              <a:t> p-values &lt; 0.05)</a:t>
            </a:r>
            <a:endParaRPr lang="fr-CI" sz="1100" dirty="0"/>
          </a:p>
          <a:p>
            <a:pPr lvl="1">
              <a:lnSpc>
                <a:spcPct val="120000"/>
              </a:lnSpc>
            </a:pPr>
            <a:r>
              <a:rPr lang="fr-FR" sz="1100" dirty="0"/>
              <a:t>Sens des effets : </a:t>
            </a:r>
          </a:p>
          <a:p>
            <a:pPr lvl="2">
              <a:lnSpc>
                <a:spcPct val="120000"/>
              </a:lnSpc>
            </a:pPr>
            <a:r>
              <a:rPr lang="fr-FR" sz="1100" dirty="0"/>
              <a:t>Une hausse des marges augmente la probabilité d’être FAUX, </a:t>
            </a:r>
          </a:p>
          <a:p>
            <a:pPr lvl="2">
              <a:lnSpc>
                <a:spcPct val="120000"/>
              </a:lnSpc>
            </a:pPr>
            <a:r>
              <a:rPr lang="fr-FR" sz="1100" dirty="0"/>
              <a:t>Une hausse de la longueur augmente la probabilité d’être VRAI</a:t>
            </a:r>
          </a:p>
          <a:p>
            <a:pPr lvl="1">
              <a:lnSpc>
                <a:spcPct val="120000"/>
              </a:lnSpc>
            </a:pPr>
            <a:r>
              <a:rPr lang="fr-FR" sz="1100" dirty="0"/>
              <a:t>Amélioration nette : </a:t>
            </a:r>
            <a:r>
              <a:rPr lang="fr-FR" sz="1100" dirty="0" err="1"/>
              <a:t>Deviance</a:t>
            </a:r>
            <a:r>
              <a:rPr lang="fr-FR" sz="1100" dirty="0"/>
              <a:t> de 1623 à 71.</a:t>
            </a:r>
          </a:p>
          <a:p>
            <a:pPr>
              <a:lnSpc>
                <a:spcPct val="120000"/>
              </a:lnSpc>
            </a:pPr>
            <a:r>
              <a:rPr lang="fr-FR" sz="1100" dirty="0"/>
              <a:t>Phase B : </a:t>
            </a:r>
            <a:r>
              <a:rPr lang="fr-CI" sz="1100" dirty="0"/>
              <a:t>Évaluation finale</a:t>
            </a:r>
            <a:endParaRPr lang="fr-FR" sz="1100" dirty="0"/>
          </a:p>
          <a:p>
            <a:pPr lvl="1">
              <a:lnSpc>
                <a:spcPct val="120000"/>
              </a:lnSpc>
            </a:pPr>
            <a:r>
              <a:rPr lang="fr-CI" sz="1100" dirty="0"/>
              <a:t>Matrice de confusion (TEST) : </a:t>
            </a:r>
          </a:p>
          <a:p>
            <a:pPr lvl="2">
              <a:lnSpc>
                <a:spcPct val="120000"/>
              </a:lnSpc>
            </a:pPr>
            <a:r>
              <a:rPr lang="fr-FR" sz="1100" dirty="0"/>
              <a:t>TN = 192, TP = 98, FN = 0 (</a:t>
            </a:r>
            <a:r>
              <a:rPr lang="fr-CI" sz="1100" dirty="0"/>
              <a:t>Risque principal éliminé), </a:t>
            </a:r>
            <a:r>
              <a:rPr lang="fr-FR" sz="1100" dirty="0"/>
              <a:t>FP = 2 (Fausses alertes).</a:t>
            </a:r>
          </a:p>
          <a:p>
            <a:pPr lvl="1">
              <a:lnSpc>
                <a:spcPct val="120000"/>
              </a:lnSpc>
            </a:pPr>
            <a:r>
              <a:rPr lang="fr-FR" sz="1100" dirty="0"/>
              <a:t>Métriques (Classe FAUX)</a:t>
            </a:r>
          </a:p>
          <a:p>
            <a:pPr lvl="2">
              <a:lnSpc>
                <a:spcPct val="120000"/>
              </a:lnSpc>
            </a:pPr>
            <a:r>
              <a:rPr lang="fr-CI" sz="1100" dirty="0" err="1"/>
              <a:t>Accurancy</a:t>
            </a:r>
            <a:r>
              <a:rPr lang="fr-CI" sz="1100" dirty="0"/>
              <a:t> = 0.9931 (99,33%) : </a:t>
            </a:r>
            <a:r>
              <a:rPr lang="fr-FR" sz="1100" dirty="0"/>
              <a:t>Seulement 1 erreur sur 292 billets.</a:t>
            </a:r>
            <a:r>
              <a:rPr lang="fr-CI" sz="1100" dirty="0"/>
              <a:t> </a:t>
            </a:r>
          </a:p>
          <a:p>
            <a:pPr lvl="2">
              <a:lnSpc>
                <a:spcPct val="120000"/>
              </a:lnSpc>
            </a:pPr>
            <a:r>
              <a:rPr lang="fr-CI" sz="1100" dirty="0" err="1"/>
              <a:t>Precision</a:t>
            </a:r>
            <a:r>
              <a:rPr lang="fr-CI" sz="1100" dirty="0"/>
              <a:t> (FAUX) = 0.98 (98%) : </a:t>
            </a:r>
            <a:r>
              <a:rPr lang="fr-FR" sz="1100" dirty="0"/>
              <a:t>Quand le modèle dit “FAUX”, il se trompe dans 2% des cas.</a:t>
            </a:r>
          </a:p>
          <a:p>
            <a:pPr lvl="2">
              <a:lnSpc>
                <a:spcPct val="120000"/>
              </a:lnSpc>
            </a:pPr>
            <a:r>
              <a:rPr lang="fr-CI" sz="1100" dirty="0" err="1"/>
              <a:t>Recall</a:t>
            </a:r>
            <a:r>
              <a:rPr lang="fr-CI" sz="1100" dirty="0"/>
              <a:t> (FAUX) = 1.00 (100%) : </a:t>
            </a:r>
            <a:r>
              <a:rPr lang="fr-FR" sz="1100" dirty="0"/>
              <a:t>Aucun FAUX n’est laissé passer sur TEST.</a:t>
            </a:r>
          </a:p>
          <a:p>
            <a:pPr lvl="2">
              <a:lnSpc>
                <a:spcPct val="120000"/>
              </a:lnSpc>
            </a:pPr>
            <a:r>
              <a:rPr lang="fr-CI" sz="1100" dirty="0"/>
              <a:t>F1 (FAUX) = 0.989899 (~0.99) : P</a:t>
            </a:r>
            <a:r>
              <a:rPr lang="fr-FR" sz="1100" dirty="0" err="1"/>
              <a:t>erformance</a:t>
            </a:r>
            <a:r>
              <a:rPr lang="fr-FR" sz="1100" dirty="0"/>
              <a:t> excellente sur la classe critique.</a:t>
            </a:r>
          </a:p>
          <a:p>
            <a:pPr marL="457200" lvl="2" indent="0">
              <a:lnSpc>
                <a:spcPct val="120000"/>
              </a:lnSpc>
              <a:buNone/>
            </a:pPr>
            <a:r>
              <a:rPr lang="fr-FR" sz="1100" dirty="0"/>
              <a:t>Le modèle fournit une discrimination nette entre VRAI et FAUX (ROC/AUC élevé) </a:t>
            </a:r>
          </a:p>
          <a:p>
            <a:pPr lvl="2">
              <a:lnSpc>
                <a:spcPct val="120000"/>
              </a:lnSpc>
            </a:pPr>
            <a:endParaRPr lang="fr-FR" sz="1100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33D7AC4-62E9-1292-C4E9-B0EEFB9A3A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180880"/>
            <a:ext cx="10837333" cy="424732"/>
          </a:xfrm>
        </p:spPr>
        <p:txBody>
          <a:bodyPr rtlCol="0"/>
          <a:lstStyle/>
          <a:p>
            <a:r>
              <a:rPr lang="fr-CI" dirty="0"/>
              <a:t>Résultats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046126A-13DC-65EA-DE8E-59CAB05DF1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smtClean="0"/>
              <a:pPr rtl="0"/>
              <a:t>12</a:t>
            </a:fld>
            <a:endParaRPr lang="fr-FR"/>
          </a:p>
        </p:txBody>
      </p:sp>
      <p:sp>
        <p:nvSpPr>
          <p:cNvPr id="18" name="Espace réservé du texte 119">
            <a:extLst>
              <a:ext uri="{FF2B5EF4-FFF2-40B4-BE49-F238E27FC236}">
                <a16:creationId xmlns:a16="http://schemas.microsoft.com/office/drawing/2014/main" id="{3A1AAD90-4BF1-5820-FB02-37E730C87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/>
          </a:p>
        </p:txBody>
      </p:sp>
      <p:pic>
        <p:nvPicPr>
          <p:cNvPr id="10" name="Espace réservé d’image 5">
            <a:extLst>
              <a:ext uri="{FF2B5EF4-FFF2-40B4-BE49-F238E27FC236}">
                <a16:creationId xmlns:a16="http://schemas.microsoft.com/office/drawing/2014/main" id="{26CE56AB-CE01-FA2C-B9D9-22F15D62B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540460A1-410D-C0B8-53C6-1B6B54D41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555" y="1689214"/>
            <a:ext cx="4801233" cy="3251954"/>
          </a:xfrm>
          <a:prstGeom prst="rect">
            <a:avLst/>
          </a:prstGeom>
        </p:spPr>
      </p:pic>
      <p:pic>
        <p:nvPicPr>
          <p:cNvPr id="7" name="Image 6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25C83BCB-500E-75E9-AFD1-D59BCA63B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0296" y="5024770"/>
            <a:ext cx="2429214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60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7F49B-B945-AEDC-27DF-EE4FC15BE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9BB0AEF2-A283-797A-865F-7A43ED160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3158"/>
            <a:ext cx="10805160" cy="707886"/>
          </a:xfrm>
        </p:spPr>
        <p:txBody>
          <a:bodyPr rtlCol="0"/>
          <a:lstStyle/>
          <a:p>
            <a:r>
              <a:rPr lang="fr-CI" dirty="0"/>
              <a:t>K-</a:t>
            </a:r>
            <a:r>
              <a:rPr lang="fr-CI" dirty="0" err="1"/>
              <a:t>nearest</a:t>
            </a:r>
            <a:r>
              <a:rPr lang="fr-CI" dirty="0"/>
              <a:t> </a:t>
            </a:r>
            <a:r>
              <a:rPr lang="fr-CI" dirty="0" err="1"/>
              <a:t>neighbors</a:t>
            </a:r>
            <a:r>
              <a:rPr lang="fr-CI" dirty="0"/>
              <a:t> (</a:t>
            </a:r>
            <a:r>
              <a:rPr lang="fr-CI" dirty="0" err="1"/>
              <a:t>knn</a:t>
            </a:r>
            <a:r>
              <a:rPr lang="fr-CI" dirty="0"/>
              <a:t>)</a:t>
            </a:r>
            <a:endParaRPr lang="fr-FR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58B7508E-3481-30CE-4F11-29D66B55CB5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3264" y="1899796"/>
            <a:ext cx="10920536" cy="4064141"/>
          </a:xfr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Phase A: Entraînement + Optimisation de k (CV) sur TRAIN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Standardisation des 6 variables (centrage + réduction) pour garantir des distances comparables.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Test d’une grille de k (3→31) sous validation croisée (5‑fold) pour optimiser le voisinage.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Sélection du meilleur k (celui offrant le meilleur compromis sur TRAIN), utilisé ensuite pour TEST.</a:t>
            </a:r>
          </a:p>
          <a:p>
            <a:pPr>
              <a:lnSpc>
                <a:spcPct val="150000"/>
              </a:lnSpc>
            </a:pPr>
            <a:r>
              <a:rPr lang="fr-FR" dirty="0"/>
              <a:t>Phase B : Évaluation finale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Application du KNN final sur TEST → classe prédite (VRAI/FAUX) + probabilité FAUX.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Matrice de confusion et métriques FAUX : </a:t>
            </a:r>
            <a:r>
              <a:rPr lang="fr-FR" dirty="0" err="1"/>
              <a:t>Accuracy</a:t>
            </a:r>
            <a:r>
              <a:rPr lang="fr-FR" dirty="0"/>
              <a:t>, </a:t>
            </a:r>
            <a:r>
              <a:rPr lang="fr-FR" dirty="0" err="1"/>
              <a:t>Precision_FAUX</a:t>
            </a:r>
            <a:r>
              <a:rPr lang="fr-FR" dirty="0"/>
              <a:t>, </a:t>
            </a:r>
            <a:r>
              <a:rPr lang="fr-FR" dirty="0" err="1"/>
              <a:t>Recall_FAUX</a:t>
            </a:r>
            <a:r>
              <a:rPr lang="fr-FR" dirty="0"/>
              <a:t>, F1_FAUX, + AUC pour la qualité de discrimination.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9F33FEE-5C36-35C9-9EAB-82677447E0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180880"/>
            <a:ext cx="11208568" cy="438786"/>
          </a:xfrm>
        </p:spPr>
        <p:txBody>
          <a:bodyPr rtlCol="0"/>
          <a:lstStyle/>
          <a:p>
            <a:r>
              <a:rPr lang="fr-FR" dirty="0"/>
              <a:t>Phase A: Entraînement + Optimisation de k (CV) sur TRAIN - </a:t>
            </a:r>
            <a:r>
              <a:rPr lang="en-US" dirty="0"/>
              <a:t>Phase B: </a:t>
            </a:r>
            <a:r>
              <a:rPr lang="fr-CI" dirty="0"/>
              <a:t>Évaluation finale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F533E6A-B57D-EF49-593D-54DD26A4D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smtClean="0"/>
              <a:pPr rtl="0"/>
              <a:t>13</a:t>
            </a:fld>
            <a:endParaRPr lang="fr-FR"/>
          </a:p>
        </p:txBody>
      </p:sp>
      <p:sp>
        <p:nvSpPr>
          <p:cNvPr id="18" name="Espace réservé du texte 119">
            <a:extLst>
              <a:ext uri="{FF2B5EF4-FFF2-40B4-BE49-F238E27FC236}">
                <a16:creationId xmlns:a16="http://schemas.microsoft.com/office/drawing/2014/main" id="{C00577AB-C63F-2853-6AA6-47758D87E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/>
          </a:p>
        </p:txBody>
      </p:sp>
      <p:pic>
        <p:nvPicPr>
          <p:cNvPr id="10" name="Espace réservé d’image 5">
            <a:extLst>
              <a:ext uri="{FF2B5EF4-FFF2-40B4-BE49-F238E27FC236}">
                <a16:creationId xmlns:a16="http://schemas.microsoft.com/office/drawing/2014/main" id="{B20DACD6-61FB-9160-E131-3A22D72E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</p:spTree>
    <p:extLst>
      <p:ext uri="{BB962C8B-B14F-4D97-AF65-F5344CB8AC3E}">
        <p14:creationId xmlns:p14="http://schemas.microsoft.com/office/powerpoint/2010/main" val="1243522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2424-CACD-97DA-598C-8752D8E6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41F50A4D-48E8-46AB-EB11-3AF760D78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3158"/>
            <a:ext cx="10805160" cy="707886"/>
          </a:xfrm>
        </p:spPr>
        <p:txBody>
          <a:bodyPr rtlCol="0"/>
          <a:lstStyle/>
          <a:p>
            <a:r>
              <a:rPr lang="fr-CI" dirty="0"/>
              <a:t>K-</a:t>
            </a:r>
            <a:r>
              <a:rPr lang="fr-CI" dirty="0" err="1"/>
              <a:t>nearest</a:t>
            </a:r>
            <a:r>
              <a:rPr lang="fr-CI" dirty="0"/>
              <a:t> </a:t>
            </a:r>
            <a:r>
              <a:rPr lang="fr-CI" dirty="0" err="1"/>
              <a:t>neighbors</a:t>
            </a:r>
            <a:r>
              <a:rPr lang="fr-CI" dirty="0"/>
              <a:t> (</a:t>
            </a:r>
            <a:r>
              <a:rPr lang="fr-CI" dirty="0" err="1"/>
              <a:t>knn</a:t>
            </a:r>
            <a:r>
              <a:rPr lang="fr-CI" dirty="0"/>
              <a:t>)</a:t>
            </a:r>
            <a:endParaRPr lang="fr-FR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49D25F90-EFBE-903E-EB86-93A74F26C4E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5340" y="1700807"/>
            <a:ext cx="6562006" cy="4550927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buNone/>
            </a:pPr>
            <a:r>
              <a:rPr lang="fr-FR" dirty="0"/>
              <a:t>Le modèle KNN final (k = 13) montre une excellente performance sur TEST, avec un comportement très sûr sur la classe critique FAUX.</a:t>
            </a:r>
          </a:p>
          <a:p>
            <a:r>
              <a:rPr lang="fr-FR" dirty="0"/>
              <a:t>Détection des FAUX</a:t>
            </a:r>
          </a:p>
          <a:p>
            <a:pPr lvl="1"/>
            <a:r>
              <a:rPr lang="fr-FR" dirty="0"/>
              <a:t>TP = 98, FN = 0 → Le modèle détecte 100% des faux billets.</a:t>
            </a:r>
          </a:p>
          <a:p>
            <a:pPr lvl="1"/>
            <a:r>
              <a:rPr lang="fr-FR" dirty="0" err="1"/>
              <a:t>Recall_FAUX</a:t>
            </a:r>
            <a:r>
              <a:rPr lang="fr-FR" dirty="0"/>
              <a:t> = 1,00 → Aucun faux billet n’est laissé passer, ce qui élimine le risque principal.</a:t>
            </a:r>
          </a:p>
          <a:p>
            <a:r>
              <a:rPr lang="fr-FR" dirty="0"/>
              <a:t>Fausses alertes</a:t>
            </a:r>
          </a:p>
          <a:p>
            <a:pPr lvl="1"/>
            <a:r>
              <a:rPr lang="fr-FR" dirty="0"/>
              <a:t>FP = 1 → Un seul billet VRAI est signalé FAUX.</a:t>
            </a:r>
          </a:p>
          <a:p>
            <a:pPr lvl="1"/>
            <a:r>
              <a:rPr lang="fr-FR" dirty="0" err="1"/>
              <a:t>Precision_FAUX</a:t>
            </a:r>
            <a:r>
              <a:rPr lang="fr-FR" dirty="0"/>
              <a:t> = 0,9899 → Quand le modèle dit FAUX, il a raison dans ~99% des cas.</a:t>
            </a:r>
          </a:p>
          <a:p>
            <a:r>
              <a:rPr lang="fr-FR" dirty="0"/>
              <a:t>Qualité globale</a:t>
            </a:r>
          </a:p>
          <a:p>
            <a:pPr lvl="1"/>
            <a:r>
              <a:rPr lang="fr-FR" dirty="0"/>
              <a:t>TN = 193, </a:t>
            </a:r>
            <a:r>
              <a:rPr lang="fr-FR" dirty="0" err="1"/>
              <a:t>Accuracy</a:t>
            </a:r>
            <a:r>
              <a:rPr lang="fr-FR" dirty="0"/>
              <a:t> = 0,9966 → Seulement 1 erreur sur 292 billets.</a:t>
            </a:r>
          </a:p>
          <a:p>
            <a:pPr lvl="1"/>
            <a:r>
              <a:rPr lang="fr-FR" dirty="0"/>
              <a:t>F1_FAUX = 0,9949 → Excellent équilibre précision / rappel.</a:t>
            </a:r>
          </a:p>
          <a:p>
            <a:pPr lvl="1"/>
            <a:r>
              <a:rPr lang="fr-FR" dirty="0"/>
              <a:t>AUC élevé → Très bonne séparation VRAI / FAUX, indépendamment du seuil.</a:t>
            </a:r>
          </a:p>
          <a:p>
            <a:pPr marL="0" indent="0">
              <a:buNone/>
            </a:pPr>
            <a:r>
              <a:rPr lang="fr-FR" dirty="0"/>
              <a:t>Le KNN est très fiable, combine rappel parfait et quasi-absence de fausses alertes, et offre une discrimination robuste entre VRAI et FAUX.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5F43D0F-E9C4-6909-0879-280B3F63C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180880"/>
            <a:ext cx="10837333" cy="424732"/>
          </a:xfrm>
        </p:spPr>
        <p:txBody>
          <a:bodyPr rtlCol="0"/>
          <a:lstStyle/>
          <a:p>
            <a:r>
              <a:rPr lang="fr-CI" dirty="0"/>
              <a:t>Résultats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95A8A1A-ECC2-75C4-1775-D1F213ABB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smtClean="0"/>
              <a:pPr rtl="0"/>
              <a:t>14</a:t>
            </a:fld>
            <a:endParaRPr lang="fr-FR"/>
          </a:p>
        </p:txBody>
      </p:sp>
      <p:sp>
        <p:nvSpPr>
          <p:cNvPr id="18" name="Espace réservé du texte 119">
            <a:extLst>
              <a:ext uri="{FF2B5EF4-FFF2-40B4-BE49-F238E27FC236}">
                <a16:creationId xmlns:a16="http://schemas.microsoft.com/office/drawing/2014/main" id="{801C735C-3FD5-67AB-DBCD-BC2D5B02D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/>
          </a:p>
        </p:txBody>
      </p:sp>
      <p:pic>
        <p:nvPicPr>
          <p:cNvPr id="10" name="Espace réservé d’image 5">
            <a:extLst>
              <a:ext uri="{FF2B5EF4-FFF2-40B4-BE49-F238E27FC236}">
                <a16:creationId xmlns:a16="http://schemas.microsoft.com/office/drawing/2014/main" id="{60156E23-155B-9C82-FFA6-C12AEA875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5" name="Image 4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53A2220D-04FC-9ABD-C4F9-B5EC994AA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073" y="1677155"/>
            <a:ext cx="3525990" cy="3552045"/>
          </a:xfrm>
          <a:prstGeom prst="rect">
            <a:avLst/>
          </a:prstGeom>
        </p:spPr>
      </p:pic>
      <p:pic>
        <p:nvPicPr>
          <p:cNvPr id="7" name="Image 6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80344382-289E-FDC8-C4F8-485CE5C909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827"/>
          <a:stretch>
            <a:fillRect/>
          </a:stretch>
        </p:blipFill>
        <p:spPr>
          <a:xfrm>
            <a:off x="10296790" y="4149080"/>
            <a:ext cx="1848108" cy="264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00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5F0DF-FC06-C399-08DD-84DD0305B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7354D3D0-9E79-D7A5-15CE-6639C9954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3158"/>
            <a:ext cx="10805160" cy="707886"/>
          </a:xfrm>
        </p:spPr>
        <p:txBody>
          <a:bodyPr rtlCol="0"/>
          <a:lstStyle/>
          <a:p>
            <a:r>
              <a:rPr lang="fr-CI" dirty="0" err="1"/>
              <a:t>Random</a:t>
            </a:r>
            <a:r>
              <a:rPr lang="fr-CI" dirty="0"/>
              <a:t> </a:t>
            </a:r>
            <a:r>
              <a:rPr lang="fr-CI" dirty="0" err="1"/>
              <a:t>forest</a:t>
            </a:r>
            <a:endParaRPr lang="fr-FR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CEF0422D-E3FB-4C00-8B96-71CD54239C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1689214"/>
            <a:ext cx="10288694" cy="4625628"/>
          </a:xfrm>
        </p:spPr>
        <p:txBody>
          <a:bodyPr rtlCol="0"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lang="fr-FR" dirty="0"/>
              <a:t>Phase A: </a:t>
            </a:r>
            <a:r>
              <a:rPr lang="fr-CI" dirty="0"/>
              <a:t>Apprentissage + Optimisation + Diagnostic 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1600" dirty="0">
                <a:latin typeface="Arial" panose="020B0604020202020204" pitchFamily="34" charset="0"/>
              </a:rPr>
              <a:t>Test de plusieurs </a:t>
            </a:r>
            <a:r>
              <a:rPr lang="fr-FR" altLang="fr-FR" sz="1600" dirty="0" err="1">
                <a:latin typeface="Arial" panose="020B0604020202020204" pitchFamily="34" charset="0"/>
              </a:rPr>
              <a:t>mtry</a:t>
            </a:r>
            <a:r>
              <a:rPr lang="fr-FR" altLang="fr-FR" sz="1600" dirty="0">
                <a:latin typeface="Arial" panose="020B0604020202020204" pitchFamily="34" charset="0"/>
              </a:rPr>
              <a:t> (1→6) sur TRAIN, choix du </a:t>
            </a:r>
            <a:r>
              <a:rPr lang="fr-FR" altLang="fr-FR" sz="1600" dirty="0" err="1">
                <a:latin typeface="Arial" panose="020B0604020202020204" pitchFamily="34" charset="0"/>
              </a:rPr>
              <a:t>mtry</a:t>
            </a:r>
            <a:r>
              <a:rPr lang="fr-FR" altLang="fr-FR" sz="1600" dirty="0">
                <a:latin typeface="Arial" panose="020B0604020202020204" pitchFamily="34" charset="0"/>
              </a:rPr>
              <a:t> minimisant l’erreur OOB. 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1600" dirty="0">
                <a:latin typeface="Arial" panose="020B0604020202020204" pitchFamily="34" charset="0"/>
              </a:rPr>
              <a:t>Construction d’une forêt de 500 arbres pour obtenir un modèle robuste. 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1600" dirty="0">
                <a:latin typeface="Arial" panose="020B0604020202020204" pitchFamily="34" charset="0"/>
              </a:rPr>
              <a:t>Diagnostic / explicabilité : Analyse de la courbe OOB et identification des variables importantes. </a:t>
            </a:r>
          </a:p>
          <a:p>
            <a:pPr>
              <a:lnSpc>
                <a:spcPct val="200000"/>
              </a:lnSpc>
            </a:pPr>
            <a:r>
              <a:rPr lang="fr-CI" dirty="0"/>
              <a:t>Phase B : Évaluation finale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1600" dirty="0">
                <a:latin typeface="Arial" panose="020B0604020202020204" pitchFamily="34" charset="0"/>
              </a:rPr>
              <a:t>Prédiction sur TEST : Classes VRAI/FAUX, matrice de confusion et métriques. 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1600" dirty="0">
                <a:latin typeface="Arial" panose="020B0604020202020204" pitchFamily="34" charset="0"/>
              </a:rPr>
              <a:t>Extraction de la probabilité FAUX + AUC pour mesurer la capacité de détection. 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1600" dirty="0">
                <a:latin typeface="Arial" panose="020B0604020202020204" pitchFamily="34" charset="0"/>
              </a:rPr>
              <a:t>Vérification du surapprentissage : Comparaison TRAIN vs TEST → Scores proches = Bonne généralisation.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sz="1800" dirty="0">
              <a:latin typeface="Arial" panose="020B0604020202020204" pitchFamily="34" charset="0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9DAE52C-75BF-1603-F721-6A18C22807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180880"/>
            <a:ext cx="10837333" cy="424732"/>
          </a:xfrm>
        </p:spPr>
        <p:txBody>
          <a:bodyPr rtlCol="0"/>
          <a:lstStyle/>
          <a:p>
            <a:r>
              <a:rPr lang="fr-FR" dirty="0"/>
              <a:t>Phase A: </a:t>
            </a:r>
            <a:r>
              <a:rPr lang="fr-CI" dirty="0"/>
              <a:t>Apprentissage + Optimisation + Diagnostic </a:t>
            </a:r>
            <a:r>
              <a:rPr lang="fr-FR" dirty="0"/>
              <a:t>- </a:t>
            </a:r>
            <a:r>
              <a:rPr lang="en-US" dirty="0"/>
              <a:t>Phase B: </a:t>
            </a:r>
            <a:r>
              <a:rPr lang="fr-CI" dirty="0"/>
              <a:t>Évaluation finale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3C70E26-64EC-BAAC-1873-CAF007051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smtClean="0"/>
              <a:pPr rtl="0"/>
              <a:t>15</a:t>
            </a:fld>
            <a:endParaRPr lang="fr-FR"/>
          </a:p>
        </p:txBody>
      </p:sp>
      <p:sp>
        <p:nvSpPr>
          <p:cNvPr id="18" name="Espace réservé du texte 119">
            <a:extLst>
              <a:ext uri="{FF2B5EF4-FFF2-40B4-BE49-F238E27FC236}">
                <a16:creationId xmlns:a16="http://schemas.microsoft.com/office/drawing/2014/main" id="{7BE09373-0885-B7BB-0047-CDE00FC33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/>
          </a:p>
        </p:txBody>
      </p:sp>
      <p:pic>
        <p:nvPicPr>
          <p:cNvPr id="10" name="Espace réservé d’image 5">
            <a:extLst>
              <a:ext uri="{FF2B5EF4-FFF2-40B4-BE49-F238E27FC236}">
                <a16:creationId xmlns:a16="http://schemas.microsoft.com/office/drawing/2014/main" id="{48BED39A-47D7-A9BD-CE64-C10E2498B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</p:spTree>
    <p:extLst>
      <p:ext uri="{BB962C8B-B14F-4D97-AF65-F5344CB8AC3E}">
        <p14:creationId xmlns:p14="http://schemas.microsoft.com/office/powerpoint/2010/main" val="1610473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1BA62-069E-B43E-755A-39981B5B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BC58CE82-25B9-9D24-D1F5-C55F0419F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3158"/>
            <a:ext cx="10805160" cy="707886"/>
          </a:xfrm>
        </p:spPr>
        <p:txBody>
          <a:bodyPr rtlCol="0"/>
          <a:lstStyle/>
          <a:p>
            <a:r>
              <a:rPr lang="fr-CI" dirty="0" err="1"/>
              <a:t>Random</a:t>
            </a:r>
            <a:r>
              <a:rPr lang="fr-CI" dirty="0"/>
              <a:t> </a:t>
            </a:r>
            <a:r>
              <a:rPr lang="fr-CI" dirty="0" err="1"/>
              <a:t>forest</a:t>
            </a:r>
            <a:endParaRPr lang="fr-FR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F07E8E58-02B7-9BF7-5553-0ECC4516CD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3352" y="1720974"/>
            <a:ext cx="6912768" cy="4625628"/>
          </a:xfrm>
        </p:spPr>
        <p:txBody>
          <a:bodyPr rtlCol="0"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fr-FR" dirty="0"/>
              <a:t>Phase A: </a:t>
            </a:r>
            <a:r>
              <a:rPr lang="fr-CI" dirty="0"/>
              <a:t>apprentissage + optimisation + diagnostic </a:t>
            </a:r>
          </a:p>
          <a:p>
            <a:pPr lvl="1">
              <a:lnSpc>
                <a:spcPct val="120000"/>
              </a:lnSpc>
            </a:pPr>
            <a:r>
              <a:rPr lang="fr-CI" dirty="0"/>
              <a:t>Test de </a:t>
            </a:r>
            <a:r>
              <a:rPr lang="fr-CI" dirty="0" err="1"/>
              <a:t>mtry</a:t>
            </a:r>
            <a:r>
              <a:rPr lang="fr-CI" dirty="0"/>
              <a:t> (1→6) avec 500 arbres → meilleur compromis : </a:t>
            </a:r>
            <a:r>
              <a:rPr lang="fr-CI" dirty="0" err="1"/>
              <a:t>mtry</a:t>
            </a:r>
            <a:r>
              <a:rPr lang="fr-CI" dirty="0"/>
              <a:t> = 1 (</a:t>
            </a:r>
            <a:r>
              <a:rPr lang="fr-CI" dirty="0" err="1"/>
              <a:t>accuracy</a:t>
            </a:r>
            <a:r>
              <a:rPr lang="fr-CI" dirty="0"/>
              <a:t> OOB ≈ 98,98%, erreur OOB ≈ 1,02%).</a:t>
            </a:r>
          </a:p>
          <a:p>
            <a:pPr lvl="1">
              <a:lnSpc>
                <a:spcPct val="120000"/>
              </a:lnSpc>
            </a:pPr>
            <a:r>
              <a:rPr lang="fr-FR" dirty="0"/>
              <a:t>Erreurs très faibles ; principal risque métier = FAUX → VRAI : 10 cas (≈ 2,54% des FAUX), et VRAI → FAUX : 2 cas (≈ 0,26% des VRAI).</a:t>
            </a:r>
          </a:p>
          <a:p>
            <a:pPr lvl="1">
              <a:lnSpc>
                <a:spcPct val="120000"/>
              </a:lnSpc>
            </a:pPr>
            <a:r>
              <a:rPr lang="fr-CI" dirty="0"/>
              <a:t>Variables clés : Importance dominée par </a:t>
            </a:r>
            <a:r>
              <a:rPr lang="fr-CI" dirty="0" err="1"/>
              <a:t>length</a:t>
            </a:r>
            <a:r>
              <a:rPr lang="fr-CI" dirty="0"/>
              <a:t>, </a:t>
            </a:r>
            <a:r>
              <a:rPr lang="fr-CI" dirty="0" err="1"/>
              <a:t>margin_low</a:t>
            </a:r>
            <a:r>
              <a:rPr lang="fr-CI" dirty="0"/>
              <a:t>, </a:t>
            </a:r>
            <a:r>
              <a:rPr lang="fr-CI" dirty="0" err="1"/>
              <a:t>margin_up</a:t>
            </a:r>
            <a:r>
              <a:rPr lang="fr-CI" dirty="0"/>
              <a:t> ; variables secondaires : </a:t>
            </a:r>
            <a:r>
              <a:rPr lang="fr-CI" dirty="0" err="1"/>
              <a:t>height_right</a:t>
            </a:r>
            <a:r>
              <a:rPr lang="fr-CI" dirty="0"/>
              <a:t>, </a:t>
            </a:r>
            <a:r>
              <a:rPr lang="fr-CI" dirty="0" err="1"/>
              <a:t>height_left</a:t>
            </a:r>
            <a:r>
              <a:rPr lang="fr-CI" dirty="0"/>
              <a:t> ; diagonal contribue peu.</a:t>
            </a:r>
          </a:p>
          <a:p>
            <a:pPr>
              <a:lnSpc>
                <a:spcPct val="120000"/>
              </a:lnSpc>
            </a:pPr>
            <a:r>
              <a:rPr lang="fr-CI" dirty="0"/>
              <a:t>Phase B : Evaluation finale</a:t>
            </a:r>
          </a:p>
          <a:p>
            <a:pPr lvl="1">
              <a:lnSpc>
                <a:spcPct val="120000"/>
              </a:lnSpc>
            </a:pPr>
            <a:r>
              <a:rPr lang="fr-CI" dirty="0"/>
              <a:t>Matrice de confusion: </a:t>
            </a:r>
          </a:p>
          <a:p>
            <a:pPr lvl="2">
              <a:lnSpc>
                <a:spcPct val="120000"/>
              </a:lnSpc>
            </a:pPr>
            <a:r>
              <a:rPr lang="fr-FR" dirty="0"/>
              <a:t>193 VRAI correctement reconnus. </a:t>
            </a:r>
          </a:p>
          <a:p>
            <a:pPr lvl="2">
              <a:lnSpc>
                <a:spcPct val="120000"/>
              </a:lnSpc>
            </a:pPr>
            <a:r>
              <a:rPr lang="fr-FR" dirty="0"/>
              <a:t>98 FAUX correctement détectés. </a:t>
            </a:r>
          </a:p>
          <a:p>
            <a:pPr lvl="2">
              <a:lnSpc>
                <a:spcPct val="120000"/>
              </a:lnSpc>
            </a:pPr>
            <a:r>
              <a:rPr lang="fr-FR" dirty="0"/>
              <a:t>0 FAUX laissés passer comme VRAI (Aucun FAUX négatif → risque critique éliminé). </a:t>
            </a:r>
          </a:p>
          <a:p>
            <a:pPr lvl="2">
              <a:lnSpc>
                <a:spcPct val="120000"/>
              </a:lnSpc>
            </a:pPr>
            <a:r>
              <a:rPr lang="fr-FR" dirty="0"/>
              <a:t>1 VRAI rejeté à tort comme FAUX (F</a:t>
            </a:r>
            <a:r>
              <a:rPr lang="fr-FR" i="1" dirty="0"/>
              <a:t>ausse alerte).</a:t>
            </a:r>
          </a:p>
          <a:p>
            <a:pPr lvl="1">
              <a:lnSpc>
                <a:spcPct val="120000"/>
              </a:lnSpc>
            </a:pPr>
            <a:r>
              <a:rPr lang="fr-CI" dirty="0"/>
              <a:t>Métriques (focus classe “FAUX”) :</a:t>
            </a:r>
          </a:p>
          <a:p>
            <a:pPr lvl="2">
              <a:lnSpc>
                <a:spcPct val="120000"/>
              </a:lnSpc>
            </a:pPr>
            <a:r>
              <a:rPr lang="fr-FR" dirty="0" err="1"/>
              <a:t>Accuracy</a:t>
            </a:r>
            <a:r>
              <a:rPr lang="fr-FR" dirty="0"/>
              <a:t> = 0,9966 (~99,66%) : Performance globale excellente.  </a:t>
            </a:r>
          </a:p>
          <a:p>
            <a:pPr lvl="2">
              <a:lnSpc>
                <a:spcPct val="120000"/>
              </a:lnSpc>
            </a:pPr>
            <a:r>
              <a:rPr lang="fr-FR" dirty="0" err="1"/>
              <a:t>Recall_FAUX</a:t>
            </a:r>
            <a:r>
              <a:rPr lang="fr-FR" dirty="0"/>
              <a:t> = 1 (100%) : Tous les FAUX sont détectés. </a:t>
            </a:r>
          </a:p>
          <a:p>
            <a:pPr lvl="2">
              <a:lnSpc>
                <a:spcPct val="120000"/>
              </a:lnSpc>
            </a:pPr>
            <a:r>
              <a:rPr lang="fr-FR" dirty="0" err="1"/>
              <a:t>Precision_FAUX</a:t>
            </a:r>
            <a:r>
              <a:rPr lang="fr-FR" dirty="0"/>
              <a:t> = 0,9899 (~98,99%) : Quasi-absence des fausses alertes. </a:t>
            </a:r>
          </a:p>
          <a:p>
            <a:pPr lvl="2">
              <a:lnSpc>
                <a:spcPct val="120000"/>
              </a:lnSpc>
            </a:pPr>
            <a:r>
              <a:rPr lang="fr-FR" dirty="0"/>
              <a:t>F1_FAUX = 0,9949 : Excellent équilibre précision / rappel.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289852D-62CE-0BBB-9101-E9AFFDD8932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180880"/>
            <a:ext cx="10837333" cy="424732"/>
          </a:xfrm>
        </p:spPr>
        <p:txBody>
          <a:bodyPr rtlCol="0"/>
          <a:lstStyle/>
          <a:p>
            <a:r>
              <a:rPr lang="fr-CI" dirty="0"/>
              <a:t>Résultats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2A07CCF-2FF2-893A-3036-EB2A1FD09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smtClean="0"/>
              <a:pPr rtl="0"/>
              <a:t>16</a:t>
            </a:fld>
            <a:endParaRPr lang="fr-FR"/>
          </a:p>
        </p:txBody>
      </p:sp>
      <p:sp>
        <p:nvSpPr>
          <p:cNvPr id="18" name="Espace réservé du texte 119">
            <a:extLst>
              <a:ext uri="{FF2B5EF4-FFF2-40B4-BE49-F238E27FC236}">
                <a16:creationId xmlns:a16="http://schemas.microsoft.com/office/drawing/2014/main" id="{B03C7827-7DB4-C0FA-045E-F003AAACE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/>
          </a:p>
        </p:txBody>
      </p:sp>
      <p:pic>
        <p:nvPicPr>
          <p:cNvPr id="10" name="Espace réservé d’image 5">
            <a:extLst>
              <a:ext uri="{FF2B5EF4-FFF2-40B4-BE49-F238E27FC236}">
                <a16:creationId xmlns:a16="http://schemas.microsoft.com/office/drawing/2014/main" id="{9E500C7E-8CF3-CAFE-40EE-EE5179B67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6" name="Image 5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8C01B4AB-4058-FDCF-24C0-1200AA9F0F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279"/>
          <a:stretch>
            <a:fillRect/>
          </a:stretch>
        </p:blipFill>
        <p:spPr>
          <a:xfrm>
            <a:off x="8832304" y="4221088"/>
            <a:ext cx="2218266" cy="2572617"/>
          </a:xfrm>
          <a:prstGeom prst="rect">
            <a:avLst/>
          </a:prstGeom>
        </p:spPr>
      </p:pic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1B68D67-333B-3C25-786B-8A42C82DC1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320" y="1991551"/>
            <a:ext cx="4810189" cy="187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7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BF887-8EE2-A264-FF9D-2C3A9FEBB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32C5F340-CFB5-DB72-412B-44E92B3EA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3158"/>
            <a:ext cx="10805160" cy="707886"/>
          </a:xfrm>
        </p:spPr>
        <p:txBody>
          <a:bodyPr rtlCol="0"/>
          <a:lstStyle/>
          <a:p>
            <a:r>
              <a:rPr lang="fr-CI" dirty="0"/>
              <a:t>K-</a:t>
            </a:r>
            <a:r>
              <a:rPr lang="fr-CI" dirty="0" err="1"/>
              <a:t>means</a:t>
            </a:r>
            <a:endParaRPr lang="fr-FR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7D1BAC07-38F7-EA5B-B404-A816D8B166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2026" y="1689214"/>
            <a:ext cx="10801200" cy="4625628"/>
          </a:xfrm>
        </p:spPr>
        <p:txBody>
          <a:bodyPr rtlCol="0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fr-FR" dirty="0"/>
              <a:t>Phase A: Préparation, choix de k et entraînement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Standardisation des 6 variables (centrage + </a:t>
            </a:r>
            <a:r>
              <a:rPr lang="fr-FR" dirty="0" err="1"/>
              <a:t>reduction</a:t>
            </a:r>
            <a:r>
              <a:rPr lang="fr-FR" dirty="0"/>
              <a:t>) pour garantir des distances comparables.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Tester de plusieurs </a:t>
            </a:r>
            <a:r>
              <a:rPr lang="fr-FR" i="1" dirty="0"/>
              <a:t>k</a:t>
            </a:r>
            <a:r>
              <a:rPr lang="fr-FR" dirty="0"/>
              <a:t> et sélection de celui offrant la meilleure structure selon WSS (Compacité) et Silhouette (Séparation).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Entraînement du K-</a:t>
            </a:r>
            <a:r>
              <a:rPr lang="fr-FR" dirty="0" err="1"/>
              <a:t>means</a:t>
            </a:r>
            <a:r>
              <a:rPr lang="fr-FR" dirty="0"/>
              <a:t> avec ce k, puis association cluster → Classe majoritaire (VRAI/FAUX)</a:t>
            </a:r>
          </a:p>
          <a:p>
            <a:pPr>
              <a:lnSpc>
                <a:spcPct val="150000"/>
              </a:lnSpc>
            </a:pPr>
            <a:r>
              <a:rPr lang="fr-CI" dirty="0"/>
              <a:t>Phase B : </a:t>
            </a:r>
            <a:r>
              <a:rPr lang="fr-FR" dirty="0"/>
              <a:t>Affectation, mapping VRAI/FAUX et évaluation</a:t>
            </a:r>
            <a:endParaRPr lang="fr-CI" dirty="0"/>
          </a:p>
          <a:p>
            <a:pPr lvl="1">
              <a:lnSpc>
                <a:spcPct val="150000"/>
              </a:lnSpc>
            </a:pPr>
            <a:r>
              <a:rPr lang="fr-FR" dirty="0"/>
              <a:t>Standardisation TEST avec les paramètres de TRAIN.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Affectation de chaque billet au cluster le plus proche via les centroïdes.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Conversion cluster → Classe (VRAI/FAUX) puis évaluation via matrice de confusion et métriques clés (</a:t>
            </a:r>
            <a:r>
              <a:rPr lang="fr-FR" dirty="0" err="1"/>
              <a:t>Accuracy</a:t>
            </a:r>
            <a:r>
              <a:rPr lang="fr-FR" dirty="0"/>
              <a:t>, </a:t>
            </a:r>
            <a:r>
              <a:rPr lang="fr-FR" dirty="0" err="1"/>
              <a:t>Precision_FAUX</a:t>
            </a:r>
            <a:r>
              <a:rPr lang="fr-FR" dirty="0"/>
              <a:t>, </a:t>
            </a:r>
            <a:r>
              <a:rPr lang="fr-FR" dirty="0" err="1"/>
              <a:t>Recall_FAUX</a:t>
            </a:r>
            <a:r>
              <a:rPr lang="fr-FR" dirty="0"/>
              <a:t>, F1_FAUX).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C41419F-148F-F9F6-5CC2-867AD34399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4320" y="1169150"/>
            <a:ext cx="11643360" cy="369332"/>
          </a:xfrm>
        </p:spPr>
        <p:txBody>
          <a:bodyPr rtlCol="0"/>
          <a:lstStyle/>
          <a:p>
            <a:r>
              <a:rPr lang="fr-FR" sz="2000" dirty="0"/>
              <a:t>Phase A: Préparation, choix de k et entraînement - </a:t>
            </a:r>
            <a:r>
              <a:rPr lang="en-US" sz="2000" dirty="0"/>
              <a:t>Phase B: </a:t>
            </a:r>
            <a:r>
              <a:rPr lang="fr-FR" sz="2000" b="1" dirty="0"/>
              <a:t>Standardisation, affectation, évaluation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35B2C28-BFB9-A1A8-2EB0-CD5EDA371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smtClean="0"/>
              <a:pPr rtl="0"/>
              <a:t>17</a:t>
            </a:fld>
            <a:endParaRPr lang="fr-FR"/>
          </a:p>
        </p:txBody>
      </p:sp>
      <p:sp>
        <p:nvSpPr>
          <p:cNvPr id="18" name="Espace réservé du texte 119">
            <a:extLst>
              <a:ext uri="{FF2B5EF4-FFF2-40B4-BE49-F238E27FC236}">
                <a16:creationId xmlns:a16="http://schemas.microsoft.com/office/drawing/2014/main" id="{3B23B3BF-CCFF-B5D8-229E-C9376EA66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/>
          </a:p>
        </p:txBody>
      </p:sp>
      <p:pic>
        <p:nvPicPr>
          <p:cNvPr id="10" name="Espace réservé d’image 5">
            <a:extLst>
              <a:ext uri="{FF2B5EF4-FFF2-40B4-BE49-F238E27FC236}">
                <a16:creationId xmlns:a16="http://schemas.microsoft.com/office/drawing/2014/main" id="{60A70795-9277-3E46-3C5C-847616933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</p:spTree>
    <p:extLst>
      <p:ext uri="{BB962C8B-B14F-4D97-AF65-F5344CB8AC3E}">
        <p14:creationId xmlns:p14="http://schemas.microsoft.com/office/powerpoint/2010/main" val="1543788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A6B20-0501-EBB7-67CF-322A9909D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8EE13517-1113-9582-6028-DA29A42AC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3158"/>
            <a:ext cx="10805160" cy="707886"/>
          </a:xfrm>
        </p:spPr>
        <p:txBody>
          <a:bodyPr rtlCol="0"/>
          <a:lstStyle/>
          <a:p>
            <a:r>
              <a:rPr lang="fr-CI" dirty="0"/>
              <a:t>K-</a:t>
            </a:r>
            <a:r>
              <a:rPr lang="fr-CI" dirty="0" err="1"/>
              <a:t>means</a:t>
            </a:r>
            <a:endParaRPr lang="fr-FR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04F5D876-59DD-E3A0-1795-12F2043B7A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9336" y="1689213"/>
            <a:ext cx="7660748" cy="4562521"/>
          </a:xfrm>
        </p:spPr>
        <p:txBody>
          <a:bodyPr rtlCol="0">
            <a:noAutofit/>
          </a:bodyPr>
          <a:lstStyle/>
          <a:p>
            <a:pPr>
              <a:lnSpc>
                <a:spcPct val="120000"/>
              </a:lnSpc>
            </a:pPr>
            <a:r>
              <a:rPr lang="fr-FR" sz="1200" dirty="0"/>
              <a:t>Phase A: Préparation, choix de k et entraînement</a:t>
            </a:r>
          </a:p>
          <a:p>
            <a:pPr lvl="1">
              <a:lnSpc>
                <a:spcPct val="120000"/>
              </a:lnSpc>
            </a:pPr>
            <a:r>
              <a:rPr lang="fr-FR" sz="1200" dirty="0"/>
              <a:t>Objectif : Trouver des groupes naturels sans utiliser la cible VRAI/FAUX.</a:t>
            </a:r>
          </a:p>
          <a:p>
            <a:pPr lvl="1">
              <a:lnSpc>
                <a:spcPct val="120000"/>
              </a:lnSpc>
            </a:pPr>
            <a:r>
              <a:rPr lang="fr-FR" sz="1200" dirty="0"/>
              <a:t>Choix de k :</a:t>
            </a:r>
          </a:p>
          <a:p>
            <a:pPr lvl="2">
              <a:lnSpc>
                <a:spcPct val="120000"/>
              </a:lnSpc>
            </a:pPr>
            <a:r>
              <a:rPr lang="fr-FR" sz="1200" i="1" dirty="0" err="1"/>
              <a:t>Elbow</a:t>
            </a:r>
            <a:r>
              <a:rPr lang="fr-FR" sz="1200" i="1" dirty="0"/>
              <a:t> (WSS)</a:t>
            </a:r>
            <a:r>
              <a:rPr lang="fr-FR" sz="1200" dirty="0"/>
              <a:t> → Forte amélioration jusqu’à k=2.</a:t>
            </a:r>
          </a:p>
          <a:p>
            <a:pPr lvl="2">
              <a:lnSpc>
                <a:spcPct val="120000"/>
              </a:lnSpc>
            </a:pPr>
            <a:r>
              <a:rPr lang="fr-FR" sz="1200" i="1" dirty="0"/>
              <a:t>Silhouette</a:t>
            </a:r>
            <a:r>
              <a:rPr lang="fr-FR" sz="1200" dirty="0"/>
              <a:t> → Score maximal à k=2.</a:t>
            </a:r>
          </a:p>
          <a:p>
            <a:pPr lvl="1">
              <a:lnSpc>
                <a:spcPct val="120000"/>
              </a:lnSpc>
            </a:pPr>
            <a:r>
              <a:rPr lang="fr-FR" sz="1200" dirty="0"/>
              <a:t>Décision : k = 2, meilleur compromis </a:t>
            </a:r>
            <a:r>
              <a:rPr lang="fr-FR" sz="1200" i="1" dirty="0"/>
              <a:t>simplicité + séparation</a:t>
            </a:r>
            <a:r>
              <a:rPr lang="fr-FR" sz="1200" dirty="0"/>
              <a:t>.</a:t>
            </a:r>
          </a:p>
          <a:p>
            <a:pPr>
              <a:lnSpc>
                <a:spcPct val="120000"/>
              </a:lnSpc>
            </a:pPr>
            <a:r>
              <a:rPr lang="fr-CI" sz="1200" dirty="0"/>
              <a:t>Phase B : </a:t>
            </a:r>
            <a:r>
              <a:rPr lang="fr-FR" sz="1200" dirty="0"/>
              <a:t>Affectation, mapping VRAI/FAUX et évaluation</a:t>
            </a:r>
            <a:endParaRPr lang="fr-CI" sz="1200" dirty="0"/>
          </a:p>
          <a:p>
            <a:pPr lvl="1"/>
            <a:r>
              <a:rPr lang="fr-CI" sz="1200" dirty="0"/>
              <a:t>Matrice de confusion (TEST):</a:t>
            </a:r>
          </a:p>
          <a:p>
            <a:pPr lvl="2"/>
            <a:r>
              <a:rPr lang="fr-FR" sz="1200" dirty="0"/>
              <a:t>VRAI correctement reconnus (TN) : 193</a:t>
            </a:r>
          </a:p>
          <a:p>
            <a:pPr lvl="2"/>
            <a:r>
              <a:rPr lang="fr-FR" sz="1200" dirty="0"/>
              <a:t>FAUX correctement détectés (TP) : 97</a:t>
            </a:r>
          </a:p>
          <a:p>
            <a:pPr lvl="2"/>
            <a:r>
              <a:rPr lang="fr-FR" sz="1200" dirty="0"/>
              <a:t>FAUX manqués (FN) : 1 </a:t>
            </a:r>
            <a:r>
              <a:rPr lang="fr-FR" sz="1200" i="1" dirty="0"/>
              <a:t>(FAUX manqué → risque principal)</a:t>
            </a:r>
          </a:p>
          <a:p>
            <a:pPr lvl="2"/>
            <a:r>
              <a:rPr lang="fr-FR" sz="1200" dirty="0"/>
              <a:t>Fausses alertes (FP) : 1 </a:t>
            </a:r>
            <a:r>
              <a:rPr lang="fr-FR" sz="1200" i="1" dirty="0"/>
              <a:t>(fausse alerte)</a:t>
            </a:r>
            <a:endParaRPr lang="fr-FR" sz="1200" dirty="0"/>
          </a:p>
          <a:p>
            <a:pPr lvl="1"/>
            <a:r>
              <a:rPr lang="fr-CI" sz="1200" dirty="0"/>
              <a:t>Métriques</a:t>
            </a:r>
          </a:p>
          <a:p>
            <a:pPr lvl="2"/>
            <a:r>
              <a:rPr lang="fr-FR" sz="1200" dirty="0" err="1"/>
              <a:t>Accuracy</a:t>
            </a:r>
            <a:r>
              <a:rPr lang="fr-FR" sz="1200" dirty="0"/>
              <a:t> = 0,993 : ~99,3% de bons classements.</a:t>
            </a:r>
          </a:p>
          <a:p>
            <a:pPr lvl="2"/>
            <a:r>
              <a:rPr lang="fr-FR" sz="1200" dirty="0" err="1"/>
              <a:t>Precision</a:t>
            </a:r>
            <a:r>
              <a:rPr lang="fr-FR" sz="1200" dirty="0"/>
              <a:t> (FAUX) = 0,9898 : Quand le modèle dit “FAUX”, il a raison ~99% du temps.</a:t>
            </a:r>
          </a:p>
          <a:p>
            <a:pPr lvl="2"/>
            <a:r>
              <a:rPr lang="fr-FR" sz="1200" dirty="0" err="1"/>
              <a:t>Recall</a:t>
            </a:r>
            <a:r>
              <a:rPr lang="fr-FR" sz="1200" dirty="0"/>
              <a:t> (FAUX) = 0,9898 : détecte ~99% des vrais FAUX (</a:t>
            </a:r>
            <a:r>
              <a:rPr lang="fr-CI" sz="1200" dirty="0"/>
              <a:t>1 seul FAUX passe).</a:t>
            </a:r>
          </a:p>
          <a:p>
            <a:pPr lvl="2"/>
            <a:r>
              <a:rPr lang="fr-FR" sz="1200" dirty="0"/>
              <a:t>F1 = 0,9898 : excellent équilibre précision / rappel sur la classe critique FAUX.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18ED8E1-0BC4-5C3E-EFEF-B27D1F16F1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180880"/>
            <a:ext cx="11643360" cy="369332"/>
          </a:xfrm>
        </p:spPr>
        <p:txBody>
          <a:bodyPr rtlCol="0"/>
          <a:lstStyle/>
          <a:p>
            <a:r>
              <a:rPr lang="fr-CI" sz="2000" dirty="0"/>
              <a:t>Résultats</a:t>
            </a:r>
            <a:endParaRPr lang="fr-FR" sz="2000" b="1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697BEA3-4BB8-CB46-3059-1E96E48E3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smtClean="0"/>
              <a:pPr rtl="0"/>
              <a:t>18</a:t>
            </a:fld>
            <a:endParaRPr lang="fr-FR"/>
          </a:p>
        </p:txBody>
      </p:sp>
      <p:sp>
        <p:nvSpPr>
          <p:cNvPr id="18" name="Espace réservé du texte 119">
            <a:extLst>
              <a:ext uri="{FF2B5EF4-FFF2-40B4-BE49-F238E27FC236}">
                <a16:creationId xmlns:a16="http://schemas.microsoft.com/office/drawing/2014/main" id="{FDF338D3-D837-C518-471F-BD699CEA6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/>
          </a:p>
        </p:txBody>
      </p:sp>
      <p:pic>
        <p:nvPicPr>
          <p:cNvPr id="10" name="Espace réservé d’image 5">
            <a:extLst>
              <a:ext uri="{FF2B5EF4-FFF2-40B4-BE49-F238E27FC236}">
                <a16:creationId xmlns:a16="http://schemas.microsoft.com/office/drawing/2014/main" id="{897AF14A-3A02-710E-2C3F-F1B8A0705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5" name="Image 4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54F77475-D20D-BDBF-07BC-D07CF4F1C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084" y="1656863"/>
            <a:ext cx="4272066" cy="2608662"/>
          </a:xfrm>
          <a:prstGeom prst="rect">
            <a:avLst/>
          </a:prstGeom>
        </p:spPr>
      </p:pic>
      <p:pic>
        <p:nvPicPr>
          <p:cNvPr id="7" name="Image 6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D6B2492A-623E-5C6D-D467-E8312B06E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3312" y="4183135"/>
            <a:ext cx="4121210" cy="2522465"/>
          </a:xfrm>
          <a:prstGeom prst="rect">
            <a:avLst/>
          </a:prstGeom>
        </p:spPr>
      </p:pic>
      <p:pic>
        <p:nvPicPr>
          <p:cNvPr id="9" name="Image 8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03D3EBB6-CD61-F69F-DD90-563D644A02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1904" y="3341735"/>
            <a:ext cx="2486372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20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C4E63-03E0-C53A-5748-E0F6AD4D2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D4515E16-AA74-EC90-C5C1-DBA7F9A14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149F5CC4-B38C-0162-108C-E28F86772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13" name="Titre 12">
            <a:extLst>
              <a:ext uri="{FF2B5EF4-FFF2-40B4-BE49-F238E27FC236}">
                <a16:creationId xmlns:a16="http://schemas.microsoft.com/office/drawing/2014/main" id="{A92CD0CA-E674-24CB-8B11-CF1B8FC08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CI" dirty="0"/>
              <a:t>MODÈLE FINAL RETENU</a:t>
            </a:r>
            <a:endParaRPr lang="fr-FR" dirty="0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57670BFA-4EC5-4806-69A0-267DBBB7E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rtlCol="0"/>
          <a:lstStyle/>
          <a:p>
            <a:pPr rt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506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C4D1F-8B3C-5253-0D8D-D1622D6EC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84C61365-C75D-EAD0-84E2-5715F2ABD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3158"/>
            <a:ext cx="10805160" cy="707886"/>
          </a:xfrm>
        </p:spPr>
        <p:txBody>
          <a:bodyPr rtlCol="0"/>
          <a:lstStyle/>
          <a:p>
            <a:r>
              <a:rPr lang="fr-CI" dirty="0"/>
              <a:t>Tableau comparatif des performances des modèles sur test</a:t>
            </a:r>
            <a:endParaRPr lang="fr-FR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E7A8152A-0BC3-2E1E-D70B-201DAB7720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9336" y="1689214"/>
            <a:ext cx="11643360" cy="3375698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fr-CI" sz="2400" dirty="0"/>
              <a:t>Résultats clés (TEST) :</a:t>
            </a:r>
          </a:p>
          <a:p>
            <a:pPr lvl="1">
              <a:lnSpc>
                <a:spcPct val="120000"/>
              </a:lnSpc>
            </a:pPr>
            <a:r>
              <a:rPr lang="fr-CI" sz="2000" dirty="0" err="1"/>
              <a:t>Random</a:t>
            </a:r>
            <a:r>
              <a:rPr lang="fr-CI" sz="2000" dirty="0"/>
              <a:t> Forest &amp; KNN : Meilleurs scores globaux (</a:t>
            </a:r>
            <a:r>
              <a:rPr lang="fr-CI" sz="2000" dirty="0" err="1"/>
              <a:t>Accuracy</a:t>
            </a:r>
            <a:r>
              <a:rPr lang="fr-CI" sz="2000" dirty="0"/>
              <a:t> ≈ 99.66%, </a:t>
            </a:r>
            <a:r>
              <a:rPr lang="fr-CI" sz="2000" dirty="0" err="1"/>
              <a:t>Recall_FAUX</a:t>
            </a:r>
            <a:r>
              <a:rPr lang="fr-CI" sz="2000" dirty="0"/>
              <a:t> = 100%, AUC ~ 1)</a:t>
            </a:r>
          </a:p>
          <a:p>
            <a:pPr lvl="1">
              <a:lnSpc>
                <a:spcPct val="120000"/>
              </a:lnSpc>
            </a:pPr>
            <a:r>
              <a:rPr lang="fr-FR" sz="2000" dirty="0"/>
              <a:t>Régression logistique : Très proche, légèrement en dessous (</a:t>
            </a:r>
            <a:r>
              <a:rPr lang="fr-FR" sz="2000" dirty="0" err="1"/>
              <a:t>Accuracy</a:t>
            </a:r>
            <a:r>
              <a:rPr lang="fr-FR" sz="2000" dirty="0"/>
              <a:t> ≈ 99.32%)</a:t>
            </a:r>
          </a:p>
          <a:p>
            <a:pPr lvl="1">
              <a:lnSpc>
                <a:spcPct val="120000"/>
              </a:lnSpc>
            </a:pPr>
            <a:r>
              <a:rPr lang="fr-FR" sz="2000" dirty="0"/>
              <a:t>K-</a:t>
            </a:r>
            <a:r>
              <a:rPr lang="fr-FR" sz="2000" dirty="0" err="1"/>
              <a:t>means</a:t>
            </a:r>
            <a:r>
              <a:rPr lang="fr-FR" sz="2000" dirty="0"/>
              <a:t> : Indicatif (non supervisé), performance correcte mais moins robuste (AUC non applicable)</a:t>
            </a:r>
            <a:endParaRPr lang="fr-CI" sz="2000" dirty="0"/>
          </a:p>
          <a:p>
            <a:pPr>
              <a:lnSpc>
                <a:spcPct val="120000"/>
              </a:lnSpc>
            </a:pPr>
            <a:r>
              <a:rPr lang="fr-FR" sz="2400" dirty="0"/>
              <a:t>Modèle final retenu : </a:t>
            </a:r>
            <a:r>
              <a:rPr lang="fr-FR" sz="2400" dirty="0" err="1"/>
              <a:t>Random</a:t>
            </a:r>
            <a:r>
              <a:rPr lang="fr-FR" sz="2400" dirty="0"/>
              <a:t> Forest</a:t>
            </a:r>
          </a:p>
          <a:p>
            <a:pPr lvl="1">
              <a:lnSpc>
                <a:spcPct val="120000"/>
              </a:lnSpc>
            </a:pPr>
            <a:r>
              <a:rPr lang="fr-FR" sz="2000" dirty="0"/>
              <a:t>Performance au meilleur niveau et plus robuste (capte des relations non linéaires).</a:t>
            </a:r>
          </a:p>
          <a:p>
            <a:pPr lvl="1">
              <a:lnSpc>
                <a:spcPct val="120000"/>
              </a:lnSpc>
            </a:pPr>
            <a:r>
              <a:rPr lang="fr-FR" sz="2000" dirty="0"/>
              <a:t>Donne une importance des variables utile pour expliquer la décision (transparence).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586EF1F-E67C-6BAB-B14C-E16B6A03DF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180880"/>
            <a:ext cx="11643360" cy="369332"/>
          </a:xfrm>
        </p:spPr>
        <p:txBody>
          <a:bodyPr rtlCol="0"/>
          <a:lstStyle/>
          <a:p>
            <a:r>
              <a:rPr lang="fr-FR" sz="2000" dirty="0"/>
              <a:t>Comparaison des modèles &amp; modèle final retenu</a:t>
            </a:r>
            <a:endParaRPr lang="fr-FR" sz="2000" b="1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D0ABE22-4540-9E92-1268-C0B0BD89B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smtClean="0"/>
              <a:pPr rtl="0"/>
              <a:t>20</a:t>
            </a:fld>
            <a:endParaRPr lang="fr-FR"/>
          </a:p>
        </p:txBody>
      </p:sp>
      <p:sp>
        <p:nvSpPr>
          <p:cNvPr id="18" name="Espace réservé du texte 119">
            <a:extLst>
              <a:ext uri="{FF2B5EF4-FFF2-40B4-BE49-F238E27FC236}">
                <a16:creationId xmlns:a16="http://schemas.microsoft.com/office/drawing/2014/main" id="{CAED144E-4D68-E76A-BACD-FAEDD125C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/>
          </a:p>
        </p:txBody>
      </p:sp>
      <p:pic>
        <p:nvPicPr>
          <p:cNvPr id="10" name="Espace réservé d’image 5">
            <a:extLst>
              <a:ext uri="{FF2B5EF4-FFF2-40B4-BE49-F238E27FC236}">
                <a16:creationId xmlns:a16="http://schemas.microsoft.com/office/drawing/2014/main" id="{656ABDE7-5754-32DC-A8F1-1EDE9438E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16C985B-3053-807D-2E41-619B85346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335" y="5153017"/>
            <a:ext cx="10069330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972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569951_TF89082059.potx" id="{487112FC-571E-4B6D-9271-7DA22953CFA9}" vid="{A9D1E965-6D2D-4991-8531-A5ABCF8E25F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86D9CC-0D9D-4BFE-B3F3-26F480BF8C8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classique et moderne à la fois</Template>
  <TotalTime>11554</TotalTime>
  <Words>2449</Words>
  <Application>Microsoft Office PowerPoint</Application>
  <PresentationFormat>Grand écran</PresentationFormat>
  <Paragraphs>232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Arial</vt:lpstr>
      <vt:lpstr>Tw Cen MT</vt:lpstr>
      <vt:lpstr>Tw Cen MT (Corps)</vt:lpstr>
      <vt:lpstr>Tw Cen MT Condensed</vt:lpstr>
      <vt:lpstr>Wingdings 3</vt:lpstr>
      <vt:lpstr>ModernClassicBlock-3</vt:lpstr>
      <vt:lpstr>Détectez des faux billets avec r</vt:lpstr>
      <vt:lpstr>Traitements et analyses réalisées</vt:lpstr>
      <vt:lpstr>Cadrage du projet &amp; donnÉes</vt:lpstr>
      <vt:lpstr>Exploration des données</vt:lpstr>
      <vt:lpstr>Exploration des données</vt:lpstr>
      <vt:lpstr>Exploration des données</vt:lpstr>
      <vt:lpstr>Exploration des données</vt:lpstr>
      <vt:lpstr>Exploration des données</vt:lpstr>
      <vt:lpstr>Construction des modèles</vt:lpstr>
      <vt:lpstr>Validation : TRAIN/TEST + règles de classification</vt:lpstr>
      <vt:lpstr>Régression logistique</vt:lpstr>
      <vt:lpstr>Régression logistique</vt:lpstr>
      <vt:lpstr>K-nearest neighbors (knn)</vt:lpstr>
      <vt:lpstr>K-nearest neighbors (knn)</vt:lpstr>
      <vt:lpstr>Random forest</vt:lpstr>
      <vt:lpstr>Random forest</vt:lpstr>
      <vt:lpstr>K-means</vt:lpstr>
      <vt:lpstr>K-means</vt:lpstr>
      <vt:lpstr>MODÈLE FINAL RETENU</vt:lpstr>
      <vt:lpstr>Tableau comparatif des performances des modèles sur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Junior Brovou</dc:creator>
  <cp:lastModifiedBy>Junior Brovou</cp:lastModifiedBy>
  <cp:revision>17</cp:revision>
  <dcterms:created xsi:type="dcterms:W3CDTF">2026-02-01T16:12:08Z</dcterms:created>
  <dcterms:modified xsi:type="dcterms:W3CDTF">2026-02-17T17:56:07Z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